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60" r:id="rId3"/>
    <p:sldId id="259" r:id="rId4"/>
    <p:sldId id="261" r:id="rId5"/>
    <p:sldId id="266" r:id="rId6"/>
    <p:sldId id="269" r:id="rId7"/>
    <p:sldId id="272" r:id="rId8"/>
    <p:sldId id="282" r:id="rId9"/>
    <p:sldId id="263" r:id="rId10"/>
    <p:sldId id="264" r:id="rId11"/>
    <p:sldId id="273" r:id="rId12"/>
    <p:sldId id="258" r:id="rId13"/>
    <p:sldId id="267" r:id="rId14"/>
    <p:sldId id="276" r:id="rId15"/>
    <p:sldId id="277" r:id="rId16"/>
    <p:sldId id="280" r:id="rId17"/>
    <p:sldId id="281" r:id="rId18"/>
    <p:sldId id="27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A9C7"/>
    <a:srgbClr val="7933FF"/>
    <a:srgbClr val="05192D"/>
    <a:srgbClr val="ABB3EA"/>
    <a:srgbClr val="FF6E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03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F:\Self%20Learning\data%20science%20projects\Hong%20Leong%20Project\data_powerpoin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F:\Self%20Learning\data%20science%20projects\Hong%20Leong%20Project\data_powerpoin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F:\Self%20Learning\data%20science%20projects\Hong%20Leong%20Project\data_powerpoin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F:\Self%20Learning\data%20science%20projects\Hong%20Leong%20Project\data_powerpoin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QS\Downloads\Median%20Sum%20Assured%20per%20Plan%20Subscribed.csv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F:\Self%20Learning\data%20science%20projects\Hong%20Leong%20Project\data_powerpoin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QS\datascience\HBA%20Capital\outputs\exports\data_powerpoin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F:\Self%20Learning\data%20science%20projects\Hong%20Leong%20Project\data_powerpoint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F:\Self%20Learning\data%20science%20projects\Hong%20Leong%20Project\data_powerpoint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qayyim\Documents\Hong%20Leong%20Project\data_powerpoint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qayyim\Documents\Hong%20Leong%20Project\data_powerpoint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qayyim\Documents\Hong%20Leong%20Project\data_powerpoint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QS\datascience\HBA%20Capital\outputs\exports\data_powerpoint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'Sum Assured by Product'!$A$2</c:f>
              <c:strCache>
                <c:ptCount val="1"/>
                <c:pt idx="0">
                  <c:v>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&quot;RM&quot;#,,&quot;mil&quot;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'Sum Assured by Product'!$B$1</c:f>
              <c:strCache>
                <c:ptCount val="1"/>
                <c:pt idx="0">
                  <c:v> Sum Assured</c:v>
                </c:pt>
              </c:strCache>
            </c:strRef>
          </c:cat>
          <c:val>
            <c:numRef>
              <c:f>'Sum Assured by Product'!$B$2</c:f>
              <c:numCache>
                <c:formatCode>"RM"#,##0.00_);[Red]\("RM"#,##0.00\)</c:formatCode>
                <c:ptCount val="1"/>
                <c:pt idx="0">
                  <c:v>989309814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5A-4E30-8FC0-0B139E4460EB}"/>
            </c:ext>
          </c:extLst>
        </c:ser>
        <c:ser>
          <c:idx val="1"/>
          <c:order val="1"/>
          <c:tx>
            <c:strRef>
              <c:f>'Sum Assured by Product'!$A$3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numFmt formatCode="&quot;RM&quot;#,,&quot;mil&quot;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'Sum Assured by Product'!$B$1</c:f>
              <c:strCache>
                <c:ptCount val="1"/>
                <c:pt idx="0">
                  <c:v> Sum Assured</c:v>
                </c:pt>
              </c:strCache>
            </c:strRef>
          </c:cat>
          <c:val>
            <c:numRef>
              <c:f>'Sum Assured by Product'!$B$3</c:f>
              <c:numCache>
                <c:formatCode>"RM"#,##0.00_);[Red]\("RM"#,##0.00\)</c:formatCode>
                <c:ptCount val="1"/>
                <c:pt idx="0">
                  <c:v>263296602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D5A-4E30-8FC0-0B139E4460EB}"/>
            </c:ext>
          </c:extLst>
        </c:ser>
        <c:ser>
          <c:idx val="2"/>
          <c:order val="2"/>
          <c:tx>
            <c:strRef>
              <c:f>'Sum Assured by Product'!$A$4</c:f>
              <c:strCache>
                <c:ptCount val="1"/>
                <c:pt idx="0">
                  <c:v>C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&quot;RM&quot;#,,&quot;mil&quot;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'Sum Assured by Product'!$B$1</c:f>
              <c:strCache>
                <c:ptCount val="1"/>
                <c:pt idx="0">
                  <c:v> Sum Assured</c:v>
                </c:pt>
              </c:strCache>
            </c:strRef>
          </c:cat>
          <c:val>
            <c:numRef>
              <c:f>'Sum Assured by Product'!$B$4</c:f>
              <c:numCache>
                <c:formatCode>"RM"#,##0.00_);[Red]\("RM"#,##0.00\)</c:formatCode>
                <c:ptCount val="1"/>
                <c:pt idx="0">
                  <c:v>219524741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D5A-4E30-8FC0-0B139E4460EB}"/>
            </c:ext>
          </c:extLst>
        </c:ser>
        <c:ser>
          <c:idx val="3"/>
          <c:order val="3"/>
          <c:tx>
            <c:strRef>
              <c:f>'Sum Assured by Product'!$A$5</c:f>
              <c:strCache>
                <c:ptCount val="1"/>
                <c:pt idx="0">
                  <c:v>D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numFmt formatCode="&quot;RM&quot;#,,&quot;mil&quot;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'Sum Assured by Product'!$B$1</c:f>
              <c:strCache>
                <c:ptCount val="1"/>
                <c:pt idx="0">
                  <c:v> Sum Assured</c:v>
                </c:pt>
              </c:strCache>
            </c:strRef>
          </c:cat>
          <c:val>
            <c:numRef>
              <c:f>'Sum Assured by Product'!$B$5</c:f>
              <c:numCache>
                <c:formatCode>"RM"#,##0.00_);[Red]\("RM"#,##0.00\)</c:formatCode>
                <c:ptCount val="1"/>
                <c:pt idx="0">
                  <c:v>96603196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D5A-4E30-8FC0-0B139E4460E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46937119"/>
        <c:axId val="1246935679"/>
      </c:barChart>
      <c:catAx>
        <c:axId val="12469371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6935679"/>
        <c:crosses val="autoZero"/>
        <c:auto val="1"/>
        <c:lblAlgn val="ctr"/>
        <c:lblOffset val="100"/>
        <c:noMultiLvlLbl val="0"/>
      </c:catAx>
      <c:valAx>
        <c:axId val="12469356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RM&quot;#,,_0&quot; bil&quot;;\(&quot;RM&quot;#,,_0&quot; bil&quot;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69371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'Premiums Secured by Prodct'!$A$2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numFmt formatCode="&quot;RM&quot;#,,_0&quot; bil&quot;;\(&quot;RM&quot;#,,_0&quot; bil&quot;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'Premiums Secured by Prodct'!$B$1</c:f>
              <c:strCache>
                <c:ptCount val="1"/>
                <c:pt idx="0">
                  <c:v>Premium Secured</c:v>
                </c:pt>
              </c:strCache>
            </c:strRef>
          </c:cat>
          <c:val>
            <c:numRef>
              <c:f>'Premiums Secured by Prodct'!$B$2</c:f>
              <c:numCache>
                <c:formatCode>"RM"#,##0.00_);[Red]\("RM"#,##0.00\)</c:formatCode>
                <c:ptCount val="1"/>
                <c:pt idx="0">
                  <c:v>14039394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FC-4A9F-9171-B2D435D61654}"/>
            </c:ext>
          </c:extLst>
        </c:ser>
        <c:ser>
          <c:idx val="1"/>
          <c:order val="1"/>
          <c:tx>
            <c:strRef>
              <c:f>'Premiums Secured by Prodct'!$A$3</c:f>
              <c:strCache>
                <c:ptCount val="1"/>
                <c:pt idx="0">
                  <c:v>C</c:v>
                </c:pt>
              </c:strCache>
            </c:strRef>
          </c:tx>
          <c:spPr>
            <a:solidFill>
              <a:srgbClr val="FDA9C7"/>
            </a:solidFill>
            <a:ln>
              <a:noFill/>
            </a:ln>
            <a:effectLst/>
          </c:spPr>
          <c:invertIfNegative val="0"/>
          <c:dLbls>
            <c:numFmt formatCode="&quot;RM&quot;#,&quot; 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'Premiums Secured by Prodct'!$B$1</c:f>
              <c:strCache>
                <c:ptCount val="1"/>
                <c:pt idx="0">
                  <c:v>Premium Secured</c:v>
                </c:pt>
              </c:strCache>
            </c:strRef>
          </c:cat>
          <c:val>
            <c:numRef>
              <c:f>'Premiums Secured by Prodct'!$B$3</c:f>
              <c:numCache>
                <c:formatCode>"RM"#,##0.00_);[Red]\("RM"#,##0.00\)</c:formatCode>
                <c:ptCount val="1"/>
                <c:pt idx="0">
                  <c:v>222528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8FC-4A9F-9171-B2D435D61654}"/>
            </c:ext>
          </c:extLst>
        </c:ser>
        <c:ser>
          <c:idx val="2"/>
          <c:order val="2"/>
          <c:tx>
            <c:strRef>
              <c:f>'Premiums Secured by Prodct'!$A$4</c:f>
              <c:strCache>
                <c:ptCount val="1"/>
                <c:pt idx="0">
                  <c:v>D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&quot;RM&quot;#,&quot; 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'Premiums Secured by Prodct'!$B$1</c:f>
              <c:strCache>
                <c:ptCount val="1"/>
                <c:pt idx="0">
                  <c:v>Premium Secured</c:v>
                </c:pt>
              </c:strCache>
            </c:strRef>
          </c:cat>
          <c:val>
            <c:numRef>
              <c:f>'Premiums Secured by Prodct'!$B$4</c:f>
              <c:numCache>
                <c:formatCode>"RM"#,##0.00_);[Red]\("RM"#,##0.00\)</c:formatCode>
                <c:ptCount val="1"/>
                <c:pt idx="0">
                  <c:v>218317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8FC-4A9F-9171-B2D435D61654}"/>
            </c:ext>
          </c:extLst>
        </c:ser>
        <c:ser>
          <c:idx val="3"/>
          <c:order val="3"/>
          <c:tx>
            <c:strRef>
              <c:f>'Premiums Secured by Prodct'!$A$5</c:f>
              <c:strCache>
                <c:ptCount val="1"/>
                <c:pt idx="0">
                  <c:v>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&quot;RM&quot;#,,_0&quot; bil&quot;;\(&quot;RM&quot;#,,_0&quot; bil&quot;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'Premiums Secured by Prodct'!$B$1</c:f>
              <c:strCache>
                <c:ptCount val="1"/>
                <c:pt idx="0">
                  <c:v>Premium Secured</c:v>
                </c:pt>
              </c:strCache>
            </c:strRef>
          </c:cat>
          <c:val>
            <c:numRef>
              <c:f>'Premiums Secured by Prodct'!$B$5</c:f>
              <c:numCache>
                <c:formatCode>"RM"#,##0.00_);[Red]\("RM"#,##0.00\)</c:formatCode>
                <c:ptCount val="1"/>
                <c:pt idx="0">
                  <c:v>26097212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8FC-4A9F-9171-B2D435D6165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96567440"/>
        <c:axId val="1196569360"/>
      </c:barChart>
      <c:catAx>
        <c:axId val="1196567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6569360"/>
        <c:crosses val="autoZero"/>
        <c:auto val="1"/>
        <c:lblAlgn val="ctr"/>
        <c:lblOffset val="100"/>
        <c:noMultiLvlLbl val="0"/>
      </c:catAx>
      <c:valAx>
        <c:axId val="1196569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RM&quot;#,,_0&quot; bil&quot;;\(&quot;RM&quot;#,,_0&quot; bil&quot;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6567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Policies Count</a:t>
            </a:r>
            <a:r>
              <a:rPr lang="en-US" baseline="0" dirty="0"/>
              <a:t> (%)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'Composition Imbalances'!$B$1</c:f>
              <c:strCache>
                <c:ptCount val="1"/>
                <c:pt idx="0">
                  <c:v>Premiums Charged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446-4662-8C61-2819DD738E6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446-4662-8C61-2819DD738E6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446-4662-8C61-2819DD738E6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446-4662-8C61-2819DD738E66}"/>
              </c:ext>
            </c:extLst>
          </c:dPt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'Composition Imbalances'!$A$2:$A$5</c:f>
              <c:strCache>
                <c:ptCount val="4"/>
                <c:pt idx="0">
                  <c:v>Premium High, Coverage High</c:v>
                </c:pt>
                <c:pt idx="1">
                  <c:v>Premium Low, Coverage Low</c:v>
                </c:pt>
                <c:pt idx="2">
                  <c:v>Premium High, Coverage Low</c:v>
                </c:pt>
                <c:pt idx="3">
                  <c:v>Premium Low, Coverage High</c:v>
                </c:pt>
              </c:strCache>
            </c:strRef>
          </c:cat>
          <c:val>
            <c:numRef>
              <c:f>'Composition Imbalances'!$B$2:$B$5</c:f>
              <c:numCache>
                <c:formatCode>"RM"#,##0_);[Red]\("RM"#,##0\)</c:formatCode>
                <c:ptCount val="4"/>
                <c:pt idx="0">
                  <c:v>14492094</c:v>
                </c:pt>
                <c:pt idx="1">
                  <c:v>5877840</c:v>
                </c:pt>
                <c:pt idx="2">
                  <c:v>15480259</c:v>
                </c:pt>
                <c:pt idx="3">
                  <c:v>5887849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446-4662-8C61-2819DD738E66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'[data_powerpoint.xlsx]Median Sum Assured, Mean Premiu'!$B$1</c:f>
              <c:strCache>
                <c:ptCount val="1"/>
                <c:pt idx="0">
                  <c:v> Median Sum Assured Per Plan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lt1"/>
              </a:solidFill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'[1]Median Sum Assured, Mean Premiu'!$A$2:$A$5</c:f>
              <c:strCache>
                <c:ptCount val="4"/>
                <c:pt idx="0">
                  <c:v>C</c:v>
                </c:pt>
                <c:pt idx="1">
                  <c:v>D</c:v>
                </c:pt>
                <c:pt idx="2">
                  <c:v>E</c:v>
                </c:pt>
                <c:pt idx="3">
                  <c:v>A</c:v>
                </c:pt>
              </c:strCache>
            </c:strRef>
          </c:cat>
          <c:val>
            <c:numRef>
              <c:f>'[1]Median Sum Assured, Mean Premiu'!$B$2:$B$5</c:f>
              <c:numCache>
                <c:formatCode>"RM"#,##0.00_);[Red]\("RM"#,##0.00\)</c:formatCode>
                <c:ptCount val="4"/>
                <c:pt idx="0">
                  <c:v>3975000</c:v>
                </c:pt>
                <c:pt idx="1">
                  <c:v>602870</c:v>
                </c:pt>
                <c:pt idx="2">
                  <c:v>165000</c:v>
                </c:pt>
                <c:pt idx="3">
                  <c:v>85750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68-4645-8680-E6C76890233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65381136"/>
        <c:axId val="1165381616"/>
      </c:barChart>
      <c:lineChart>
        <c:grouping val="standard"/>
        <c:varyColors val="0"/>
        <c:ser>
          <c:idx val="1"/>
          <c:order val="1"/>
          <c:tx>
            <c:strRef>
              <c:f>'[data_powerpoint.xlsx]Median Sum Assured, Mean Premiu'!$C$1</c:f>
              <c:strCache>
                <c:ptCount val="1"/>
                <c:pt idx="0">
                  <c:v>Average Premium Secured Per Plan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solidFill>
                <a:schemeClr val="lt1"/>
              </a:solidFill>
              <a:ln w="1905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'[1]Median Sum Assured, Mean Premiu'!$A$2:$A$5</c:f>
              <c:strCache>
                <c:ptCount val="4"/>
                <c:pt idx="0">
                  <c:v>C</c:v>
                </c:pt>
                <c:pt idx="1">
                  <c:v>D</c:v>
                </c:pt>
                <c:pt idx="2">
                  <c:v>E</c:v>
                </c:pt>
                <c:pt idx="3">
                  <c:v>A</c:v>
                </c:pt>
              </c:strCache>
            </c:strRef>
          </c:cat>
          <c:val>
            <c:numRef>
              <c:f>'[1]Median Sum Assured, Mean Premiu'!$C$2:$C$5</c:f>
              <c:numCache>
                <c:formatCode>"RM"#,##0.00</c:formatCode>
                <c:ptCount val="4"/>
                <c:pt idx="0">
                  <c:v>24725.333333333299</c:v>
                </c:pt>
                <c:pt idx="1">
                  <c:v>10565.672874493899</c:v>
                </c:pt>
                <c:pt idx="2">
                  <c:v>10042.4849785407</c:v>
                </c:pt>
                <c:pt idx="3">
                  <c:v>1559.4071428571399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68-4645-8680-E6C768902336}"/>
            </c:ext>
          </c:extLst>
        </c:ser>
        <c:ser>
          <c:idx val="2"/>
          <c:order val="2"/>
          <c:tx>
            <c:strRef>
              <c:f>'[data_powerpoint.xlsx]Median Sum Assured, Mean Premiu'!$D$1</c:f>
              <c:strCache>
                <c:ptCount val="1"/>
                <c:pt idx="0">
                  <c:v>Ratio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dLbls>
            <c:spPr>
              <a:solidFill>
                <a:schemeClr val="lt1"/>
              </a:solidFill>
              <a:ln w="19050" cap="flat" cmpd="sng" algn="ctr">
                <a:solidFill>
                  <a:schemeClr val="accent3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'[1]Median Sum Assured, Mean Premiu'!$A$2:$A$5</c:f>
              <c:strCache>
                <c:ptCount val="4"/>
                <c:pt idx="0">
                  <c:v>C</c:v>
                </c:pt>
                <c:pt idx="1">
                  <c:v>D</c:v>
                </c:pt>
                <c:pt idx="2">
                  <c:v>E</c:v>
                </c:pt>
                <c:pt idx="3">
                  <c:v>A</c:v>
                </c:pt>
              </c:strCache>
            </c:strRef>
          </c:cat>
          <c:val>
            <c:numRef>
              <c:f>'[1]Median Sum Assured, Mean Premiu'!$D$2:$D$5</c:f>
              <c:numCache>
                <c:formatCode>General</c:formatCode>
                <c:ptCount val="4"/>
                <c:pt idx="0">
                  <c:v>161</c:v>
                </c:pt>
                <c:pt idx="1">
                  <c:v>57</c:v>
                </c:pt>
                <c:pt idx="2">
                  <c:v>16</c:v>
                </c:pt>
                <c:pt idx="3">
                  <c:v>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168-4645-8680-E6C76890233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91076256"/>
        <c:axId val="91079616"/>
      </c:lineChart>
      <c:catAx>
        <c:axId val="1165381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5381616"/>
        <c:crosses val="autoZero"/>
        <c:auto val="1"/>
        <c:lblAlgn val="ctr"/>
        <c:lblOffset val="100"/>
        <c:noMultiLvlLbl val="0"/>
      </c:catAx>
      <c:valAx>
        <c:axId val="1165381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Median</a:t>
                </a:r>
                <a:r>
                  <a:rPr lang="en-US" baseline="0"/>
                  <a:t> Sum Assured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RM&quot;#,##0.00_);[Red]\(&quot;RM&quot;#,##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5381136"/>
        <c:crosses val="autoZero"/>
        <c:crossBetween val="between"/>
      </c:valAx>
      <c:valAx>
        <c:axId val="91079616"/>
        <c:scaling>
          <c:orientation val="minMax"/>
          <c:min val="-10000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Average Premiums Secured Per Plan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RM&quot;#,##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076256"/>
        <c:crosses val="max"/>
        <c:crossBetween val="between"/>
      </c:valAx>
      <c:catAx>
        <c:axId val="9107625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9107961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[data_powerpoint.xlsx]Income Bands for E and A!PivotTable17</c:name>
    <c:fmtId val="13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'Income Bands for E and A'!$C$16</c:f>
              <c:strCache>
                <c:ptCount val="1"/>
                <c:pt idx="0">
                  <c:v>Sum of Count of Client Code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'Income Bands for E and A'!$A$17:$B$26</c:f>
              <c:multiLvlStrCache>
                <c:ptCount val="10"/>
                <c:lvl>
                  <c:pt idx="0">
                    <c:v>No Income</c:v>
                  </c:pt>
                  <c:pt idx="1">
                    <c:v>Q1</c:v>
                  </c:pt>
                  <c:pt idx="2">
                    <c:v>Q2</c:v>
                  </c:pt>
                  <c:pt idx="3">
                    <c:v>Q3</c:v>
                  </c:pt>
                  <c:pt idx="4">
                    <c:v>Q4</c:v>
                  </c:pt>
                  <c:pt idx="5">
                    <c:v>No Income</c:v>
                  </c:pt>
                  <c:pt idx="6">
                    <c:v>Q1</c:v>
                  </c:pt>
                  <c:pt idx="7">
                    <c:v>Q2</c:v>
                  </c:pt>
                  <c:pt idx="8">
                    <c:v>Q3</c:v>
                  </c:pt>
                  <c:pt idx="9">
                    <c:v>Q4</c:v>
                  </c:pt>
                </c:lvl>
                <c:lvl>
                  <c:pt idx="0">
                    <c:v>A</c:v>
                  </c:pt>
                  <c:pt idx="5">
                    <c:v>E</c:v>
                  </c:pt>
                </c:lvl>
              </c:multiLvlStrCache>
            </c:multiLvlStrRef>
          </c:cat>
          <c:val>
            <c:numRef>
              <c:f>'Income Bands for E and A'!$C$17:$C$26</c:f>
              <c:numCache>
                <c:formatCode>General</c:formatCode>
                <c:ptCount val="10"/>
                <c:pt idx="0">
                  <c:v>15</c:v>
                </c:pt>
                <c:pt idx="1">
                  <c:v>449</c:v>
                </c:pt>
                <c:pt idx="2">
                  <c:v>282</c:v>
                </c:pt>
                <c:pt idx="3">
                  <c:v>380</c:v>
                </c:pt>
                <c:pt idx="4">
                  <c:v>268</c:v>
                </c:pt>
                <c:pt idx="5">
                  <c:v>19</c:v>
                </c:pt>
                <c:pt idx="6">
                  <c:v>798</c:v>
                </c:pt>
                <c:pt idx="7">
                  <c:v>480</c:v>
                </c:pt>
                <c:pt idx="8">
                  <c:v>659</c:v>
                </c:pt>
                <c:pt idx="9">
                  <c:v>516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C0-42DD-B59F-C79F7E44BCEB}"/>
            </c:ext>
          </c:extLst>
        </c:ser>
        <c:ser>
          <c:idx val="1"/>
          <c:order val="1"/>
          <c:tx>
            <c:strRef>
              <c:f>'Income Bands for E and A'!$D$16</c:f>
              <c:strCache>
                <c:ptCount val="1"/>
                <c:pt idx="0">
                  <c:v>Sum of Count of Client Code2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multiLvlStrRef>
              <c:f>'Income Bands for E and A'!$A$17:$B$26</c:f>
              <c:multiLvlStrCache>
                <c:ptCount val="10"/>
                <c:lvl>
                  <c:pt idx="0">
                    <c:v>No Income</c:v>
                  </c:pt>
                  <c:pt idx="1">
                    <c:v>Q1</c:v>
                  </c:pt>
                  <c:pt idx="2">
                    <c:v>Q2</c:v>
                  </c:pt>
                  <c:pt idx="3">
                    <c:v>Q3</c:v>
                  </c:pt>
                  <c:pt idx="4">
                    <c:v>Q4</c:v>
                  </c:pt>
                  <c:pt idx="5">
                    <c:v>No Income</c:v>
                  </c:pt>
                  <c:pt idx="6">
                    <c:v>Q1</c:v>
                  </c:pt>
                  <c:pt idx="7">
                    <c:v>Q2</c:v>
                  </c:pt>
                  <c:pt idx="8">
                    <c:v>Q3</c:v>
                  </c:pt>
                  <c:pt idx="9">
                    <c:v>Q4</c:v>
                  </c:pt>
                </c:lvl>
                <c:lvl>
                  <c:pt idx="0">
                    <c:v>A</c:v>
                  </c:pt>
                  <c:pt idx="5">
                    <c:v>E</c:v>
                  </c:pt>
                </c:lvl>
              </c:multiLvlStrCache>
            </c:multiLvlStrRef>
          </c:cat>
          <c:val>
            <c:numRef>
              <c:f>'Income Bands for E and A'!$D$17:$D$26</c:f>
              <c:numCache>
                <c:formatCode>0.00%</c:formatCode>
                <c:ptCount val="10"/>
                <c:pt idx="0">
                  <c:v>1.0760401721664276E-2</c:v>
                </c:pt>
                <c:pt idx="1">
                  <c:v>0.32209469153515063</c:v>
                </c:pt>
                <c:pt idx="2">
                  <c:v>0.20229555236728838</c:v>
                </c:pt>
                <c:pt idx="3">
                  <c:v>0.27259684361549497</c:v>
                </c:pt>
                <c:pt idx="4">
                  <c:v>0.19225251076040173</c:v>
                </c:pt>
                <c:pt idx="5">
                  <c:v>7.6860841423948218E-3</c:v>
                </c:pt>
                <c:pt idx="6">
                  <c:v>0.32281553398058255</c:v>
                </c:pt>
                <c:pt idx="7">
                  <c:v>0.1941747572815534</c:v>
                </c:pt>
                <c:pt idx="8">
                  <c:v>0.26658576051779936</c:v>
                </c:pt>
                <c:pt idx="9">
                  <c:v>0.20873786407766989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3C0-42DD-B59F-C79F7E44BCE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0"/>
        <c:overlap val="78"/>
        <c:axId val="1527159743"/>
        <c:axId val="1527159263"/>
      </c:barChart>
      <c:catAx>
        <c:axId val="152715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7159263"/>
        <c:crosses val="autoZero"/>
        <c:auto val="1"/>
        <c:lblAlgn val="ctr"/>
        <c:lblOffset val="100"/>
        <c:noMultiLvlLbl val="0"/>
      </c:catAx>
      <c:valAx>
        <c:axId val="15271592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7159743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[data_powerpoint.xlsx]Imbalance Segmentation!PivotTable1</c:name>
    <c:fmtId val="9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'Imbalance Segmentation'!$G$55:$G$56</c:f>
              <c:strCache>
                <c:ptCount val="1"/>
                <c:pt idx="0">
                  <c:v>Premium High, Coverage High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>
                <a:solidFill>
                  <a:schemeClr val="accent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'Imbalance Segmentation'!$F$57:$F$61</c:f>
              <c:strCache>
                <c:ptCount val="4"/>
                <c:pt idx="0">
                  <c:v>A</c:v>
                </c:pt>
                <c:pt idx="1">
                  <c:v>C</c:v>
                </c:pt>
                <c:pt idx="2">
                  <c:v>D</c:v>
                </c:pt>
                <c:pt idx="3">
                  <c:v>E</c:v>
                </c:pt>
              </c:strCache>
            </c:strRef>
          </c:cat>
          <c:val>
            <c:numRef>
              <c:f>'Imbalance Segmentation'!$G$57:$G$61</c:f>
              <c:numCache>
                <c:formatCode>0.00%</c:formatCode>
                <c:ptCount val="4"/>
                <c:pt idx="0">
                  <c:v>0.24320457796852646</c:v>
                </c:pt>
                <c:pt idx="1">
                  <c:v>0.22222222222222221</c:v>
                </c:pt>
                <c:pt idx="2">
                  <c:v>0.27142857142857141</c:v>
                </c:pt>
                <c:pt idx="3">
                  <c:v>0.25564218301189989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C9-43BA-B469-024EA36EE9F3}"/>
            </c:ext>
          </c:extLst>
        </c:ser>
        <c:ser>
          <c:idx val="1"/>
          <c:order val="1"/>
          <c:tx>
            <c:strRef>
              <c:f>'Imbalance Segmentation'!$H$55:$H$56</c:f>
              <c:strCache>
                <c:ptCount val="1"/>
                <c:pt idx="0">
                  <c:v>Premium High, Coverage Low</c:v>
                </c:pt>
              </c:strCache>
            </c:strRef>
          </c:tx>
          <c:spPr>
            <a:solidFill>
              <a:srgbClr val="FDA9C7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'Imbalance Segmentation'!$F$57:$F$61</c:f>
              <c:strCache>
                <c:ptCount val="4"/>
                <c:pt idx="0">
                  <c:v>A</c:v>
                </c:pt>
                <c:pt idx="1">
                  <c:v>C</c:v>
                </c:pt>
                <c:pt idx="2">
                  <c:v>D</c:v>
                </c:pt>
                <c:pt idx="3">
                  <c:v>E</c:v>
                </c:pt>
              </c:strCache>
            </c:strRef>
          </c:cat>
          <c:val>
            <c:numRef>
              <c:f>'Imbalance Segmentation'!$H$57:$H$61</c:f>
              <c:numCache>
                <c:formatCode>0.00%</c:formatCode>
                <c:ptCount val="4"/>
                <c:pt idx="0">
                  <c:v>0.25393419170243203</c:v>
                </c:pt>
                <c:pt idx="1">
                  <c:v>0.22222222222222221</c:v>
                </c:pt>
                <c:pt idx="2">
                  <c:v>0.22142857142857142</c:v>
                </c:pt>
                <c:pt idx="3">
                  <c:v>0.24661469019286009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C9-43BA-B469-024EA36EE9F3}"/>
            </c:ext>
          </c:extLst>
        </c:ser>
        <c:ser>
          <c:idx val="2"/>
          <c:order val="2"/>
          <c:tx>
            <c:strRef>
              <c:f>'Imbalance Segmentation'!$I$55:$I$56</c:f>
              <c:strCache>
                <c:ptCount val="1"/>
                <c:pt idx="0">
                  <c:v>Premium Low, Coverage High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'Imbalance Segmentation'!$F$57:$F$61</c:f>
              <c:strCache>
                <c:ptCount val="4"/>
                <c:pt idx="0">
                  <c:v>A</c:v>
                </c:pt>
                <c:pt idx="1">
                  <c:v>C</c:v>
                </c:pt>
                <c:pt idx="2">
                  <c:v>D</c:v>
                </c:pt>
                <c:pt idx="3">
                  <c:v>E</c:v>
                </c:pt>
              </c:strCache>
            </c:strRef>
          </c:cat>
          <c:val>
            <c:numRef>
              <c:f>'Imbalance Segmentation'!$I$57:$I$61</c:f>
              <c:numCache>
                <c:formatCode>0.00%</c:formatCode>
                <c:ptCount val="4"/>
                <c:pt idx="0">
                  <c:v>0.25679542203147354</c:v>
                </c:pt>
                <c:pt idx="1">
                  <c:v>0.33333333333333331</c:v>
                </c:pt>
                <c:pt idx="2">
                  <c:v>0.22857142857142856</c:v>
                </c:pt>
                <c:pt idx="3">
                  <c:v>0.24907673368896183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1C9-43BA-B469-024EA36EE9F3}"/>
            </c:ext>
          </c:extLst>
        </c:ser>
        <c:ser>
          <c:idx val="3"/>
          <c:order val="3"/>
          <c:tx>
            <c:strRef>
              <c:f>'Imbalance Segmentation'!$J$55:$J$56</c:f>
              <c:strCache>
                <c:ptCount val="1"/>
                <c:pt idx="0">
                  <c:v>Premium Low, Coverage Low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'Imbalance Segmentation'!$F$57:$F$61</c:f>
              <c:strCache>
                <c:ptCount val="4"/>
                <c:pt idx="0">
                  <c:v>A</c:v>
                </c:pt>
                <c:pt idx="1">
                  <c:v>C</c:v>
                </c:pt>
                <c:pt idx="2">
                  <c:v>D</c:v>
                </c:pt>
                <c:pt idx="3">
                  <c:v>E</c:v>
                </c:pt>
              </c:strCache>
            </c:strRef>
          </c:cat>
          <c:val>
            <c:numRef>
              <c:f>'Imbalance Segmentation'!$J$57:$J$61</c:f>
              <c:numCache>
                <c:formatCode>0.00%</c:formatCode>
                <c:ptCount val="4"/>
                <c:pt idx="0">
                  <c:v>0.24606580829756797</c:v>
                </c:pt>
                <c:pt idx="1">
                  <c:v>0.22222222222222221</c:v>
                </c:pt>
                <c:pt idx="2">
                  <c:v>0.27857142857142858</c:v>
                </c:pt>
                <c:pt idx="3">
                  <c:v>0.24866639310627822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1C9-43BA-B469-024EA36EE9F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5"/>
        <c:overlap val="100"/>
        <c:axId val="1915274768"/>
        <c:axId val="1915275248"/>
      </c:barChart>
      <c:catAx>
        <c:axId val="1915274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5275248"/>
        <c:crosses val="autoZero"/>
        <c:auto val="1"/>
        <c:lblAlgn val="ctr"/>
        <c:lblOffset val="100"/>
        <c:noMultiLvlLbl val="0"/>
      </c:catAx>
      <c:valAx>
        <c:axId val="191527524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52747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[data_powerpoint.xlsx]Imbalance Segmentation!PivotTable12</c:name>
    <c:fmtId val="4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2"/>
          </a:solidFill>
          <a:ln>
            <a:noFill/>
          </a:ln>
          <a:effectLst/>
        </c:spPr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2"/>
          </a:solidFill>
          <a:ln>
            <a:noFill/>
          </a:ln>
          <a:effectLst/>
        </c:spPr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'Imbalance Segmentation'!$G$1:$G$2</c:f>
              <c:strCache>
                <c:ptCount val="1"/>
                <c:pt idx="0">
                  <c:v>Premium High, Coverage High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296-44D7-9D61-E208F06F4445}"/>
              </c:ext>
            </c:extLst>
          </c:dPt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'Imbalance Segmentation'!$F$3:$F$7</c:f>
              <c:strCache>
                <c:ptCount val="4"/>
                <c:pt idx="0">
                  <c:v>A</c:v>
                </c:pt>
                <c:pt idx="1">
                  <c:v>C</c:v>
                </c:pt>
                <c:pt idx="2">
                  <c:v>D</c:v>
                </c:pt>
                <c:pt idx="3">
                  <c:v>E</c:v>
                </c:pt>
              </c:strCache>
            </c:strRef>
          </c:cat>
          <c:val>
            <c:numRef>
              <c:f>'Imbalance Segmentation'!$G$3:$G$7</c:f>
              <c:numCache>
                <c:formatCode>0.00%</c:formatCode>
                <c:ptCount val="4"/>
                <c:pt idx="0">
                  <c:v>0.48089897491347039</c:v>
                </c:pt>
                <c:pt idx="1">
                  <c:v>4.5021804626568261E-2</c:v>
                </c:pt>
                <c:pt idx="2">
                  <c:v>0.43009298574345306</c:v>
                </c:pt>
                <c:pt idx="3">
                  <c:v>0.44398794774313238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296-44D7-9D61-E208F06F4445}"/>
            </c:ext>
          </c:extLst>
        </c:ser>
        <c:ser>
          <c:idx val="1"/>
          <c:order val="1"/>
          <c:tx>
            <c:strRef>
              <c:f>'Imbalance Segmentation'!$H$1:$H$2</c:f>
              <c:strCache>
                <c:ptCount val="1"/>
                <c:pt idx="0">
                  <c:v>Premium High, Coverage Low</c:v>
                </c:pt>
              </c:strCache>
            </c:strRef>
          </c:tx>
          <c:spPr>
            <a:solidFill>
              <a:srgbClr val="FDA9C7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FDA9C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1296-44D7-9D61-E208F06F4445}"/>
              </c:ext>
            </c:extLst>
          </c:dPt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'Imbalance Segmentation'!$F$3:$F$7</c:f>
              <c:strCache>
                <c:ptCount val="4"/>
                <c:pt idx="0">
                  <c:v>A</c:v>
                </c:pt>
                <c:pt idx="1">
                  <c:v>C</c:v>
                </c:pt>
                <c:pt idx="2">
                  <c:v>D</c:v>
                </c:pt>
                <c:pt idx="3">
                  <c:v>E</c:v>
                </c:pt>
              </c:strCache>
            </c:strRef>
          </c:cat>
          <c:val>
            <c:numRef>
              <c:f>'Imbalance Segmentation'!$H$3:$H$7</c:f>
              <c:numCache>
                <c:formatCode>0.00%</c:formatCode>
                <c:ptCount val="4"/>
                <c:pt idx="0">
                  <c:v>4.1804481776031431E-2</c:v>
                </c:pt>
                <c:pt idx="1">
                  <c:v>1.1393399161327334E-2</c:v>
                </c:pt>
                <c:pt idx="2">
                  <c:v>9.6247550650394628E-2</c:v>
                </c:pt>
                <c:pt idx="3">
                  <c:v>4.6289888518178592E-2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296-44D7-9D61-E208F06F4445}"/>
            </c:ext>
          </c:extLst>
        </c:ser>
        <c:ser>
          <c:idx val="2"/>
          <c:order val="2"/>
          <c:tx>
            <c:strRef>
              <c:f>'Imbalance Segmentation'!$I$1:$I$2</c:f>
              <c:strCache>
                <c:ptCount val="1"/>
                <c:pt idx="0">
                  <c:v>Premium Low, Coverage High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'Imbalance Segmentation'!$F$3:$F$7</c:f>
              <c:strCache>
                <c:ptCount val="4"/>
                <c:pt idx="0">
                  <c:v>A</c:v>
                </c:pt>
                <c:pt idx="1">
                  <c:v>C</c:v>
                </c:pt>
                <c:pt idx="2">
                  <c:v>D</c:v>
                </c:pt>
                <c:pt idx="3">
                  <c:v>E</c:v>
                </c:pt>
              </c:strCache>
            </c:strRef>
          </c:cat>
          <c:val>
            <c:numRef>
              <c:f>'Imbalance Segmentation'!$I$3:$I$7</c:f>
              <c:numCache>
                <c:formatCode>0.00%</c:formatCode>
                <c:ptCount val="4"/>
                <c:pt idx="0">
                  <c:v>0.43876116183223662</c:v>
                </c:pt>
                <c:pt idx="1">
                  <c:v>0.94356159609362666</c:v>
                </c:pt>
                <c:pt idx="2">
                  <c:v>0.33188650404485581</c:v>
                </c:pt>
                <c:pt idx="3">
                  <c:v>0.46880230382511906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296-44D7-9D61-E208F06F4445}"/>
            </c:ext>
          </c:extLst>
        </c:ser>
        <c:ser>
          <c:idx val="3"/>
          <c:order val="3"/>
          <c:tx>
            <c:strRef>
              <c:f>'Imbalance Segmentation'!$J$1:$J$2</c:f>
              <c:strCache>
                <c:ptCount val="1"/>
                <c:pt idx="0">
                  <c:v>Premium Low, Coverage Low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'Imbalance Segmentation'!$F$3:$F$7</c:f>
              <c:strCache>
                <c:ptCount val="4"/>
                <c:pt idx="0">
                  <c:v>A</c:v>
                </c:pt>
                <c:pt idx="1">
                  <c:v>C</c:v>
                </c:pt>
                <c:pt idx="2">
                  <c:v>D</c:v>
                </c:pt>
                <c:pt idx="3">
                  <c:v>E</c:v>
                </c:pt>
              </c:strCache>
            </c:strRef>
          </c:cat>
          <c:val>
            <c:numRef>
              <c:f>'Imbalance Segmentation'!$J$3:$J$7</c:f>
              <c:numCache>
                <c:formatCode>0.00%</c:formatCode>
                <c:ptCount val="4"/>
                <c:pt idx="0">
                  <c:v>3.8535381478261542E-2</c:v>
                </c:pt>
                <c:pt idx="1">
                  <c:v>2.3200118477761921E-5</c:v>
                </c:pt>
                <c:pt idx="2">
                  <c:v>0.14177295956129651</c:v>
                </c:pt>
                <c:pt idx="3">
                  <c:v>4.0919859913570007E-2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296-44D7-9D61-E208F06F444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5"/>
        <c:overlap val="100"/>
        <c:axId val="572996656"/>
        <c:axId val="573000016"/>
      </c:barChart>
      <c:catAx>
        <c:axId val="572996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3000016"/>
        <c:crosses val="autoZero"/>
        <c:auto val="1"/>
        <c:lblAlgn val="ctr"/>
        <c:lblOffset val="100"/>
        <c:noMultiLvlLbl val="0"/>
      </c:catAx>
      <c:valAx>
        <c:axId val="573000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2996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[data_powerpoint.xlsx]Imbalance Segmentation!PivotTable13</c:name>
    <c:fmtId val="9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'Imbalance Segmentation'!$G$21:$G$22</c:f>
              <c:strCache>
                <c:ptCount val="1"/>
                <c:pt idx="0">
                  <c:v>Premium High, Coverage High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'Imbalance Segmentation'!$F$23:$F$27</c:f>
              <c:strCache>
                <c:ptCount val="4"/>
                <c:pt idx="0">
                  <c:v>A</c:v>
                </c:pt>
                <c:pt idx="1">
                  <c:v>C</c:v>
                </c:pt>
                <c:pt idx="2">
                  <c:v>D</c:v>
                </c:pt>
                <c:pt idx="3">
                  <c:v>E</c:v>
                </c:pt>
              </c:strCache>
            </c:strRef>
          </c:cat>
          <c:val>
            <c:numRef>
              <c:f>'Imbalance Segmentation'!$G$23:$G$27</c:f>
              <c:numCache>
                <c:formatCode>0.00%</c:formatCode>
                <c:ptCount val="4"/>
                <c:pt idx="0">
                  <c:v>0.3144724052904278</c:v>
                </c:pt>
                <c:pt idx="1">
                  <c:v>0.28262510785159622</c:v>
                </c:pt>
                <c:pt idx="2">
                  <c:v>0.39093611583156601</c:v>
                </c:pt>
                <c:pt idx="3">
                  <c:v>0.36278085950330635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BA-4138-8724-4193F299EB6E}"/>
            </c:ext>
          </c:extLst>
        </c:ser>
        <c:ser>
          <c:idx val="1"/>
          <c:order val="1"/>
          <c:tx>
            <c:strRef>
              <c:f>'Imbalance Segmentation'!$H$21:$H$22</c:f>
              <c:strCache>
                <c:ptCount val="1"/>
                <c:pt idx="0">
                  <c:v>Premium High, Coverage Low</c:v>
                </c:pt>
              </c:strCache>
            </c:strRef>
          </c:tx>
          <c:spPr>
            <a:solidFill>
              <a:srgbClr val="FDA9C7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'Imbalance Segmentation'!$F$23:$F$27</c:f>
              <c:strCache>
                <c:ptCount val="4"/>
                <c:pt idx="0">
                  <c:v>A</c:v>
                </c:pt>
                <c:pt idx="1">
                  <c:v>C</c:v>
                </c:pt>
                <c:pt idx="2">
                  <c:v>D</c:v>
                </c:pt>
                <c:pt idx="3">
                  <c:v>E</c:v>
                </c:pt>
              </c:strCache>
            </c:strRef>
          </c:cat>
          <c:val>
            <c:numRef>
              <c:f>'Imbalance Segmentation'!$H$23:$H$27</c:f>
              <c:numCache>
                <c:formatCode>0.00%</c:formatCode>
                <c:ptCount val="4"/>
                <c:pt idx="0">
                  <c:v>0.41101090260733475</c:v>
                </c:pt>
                <c:pt idx="1">
                  <c:v>0.27987489214840378</c:v>
                </c:pt>
                <c:pt idx="2">
                  <c:v>0.33510903869144409</c:v>
                </c:pt>
                <c:pt idx="3">
                  <c:v>0.35175431766427773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8BA-4138-8724-4193F299EB6E}"/>
            </c:ext>
          </c:extLst>
        </c:ser>
        <c:ser>
          <c:idx val="2"/>
          <c:order val="2"/>
          <c:tx>
            <c:strRef>
              <c:f>'Imbalance Segmentation'!$I$21:$I$22</c:f>
              <c:strCache>
                <c:ptCount val="1"/>
                <c:pt idx="0">
                  <c:v>Premium Low, Coverage High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'Imbalance Segmentation'!$F$23:$F$27</c:f>
              <c:strCache>
                <c:ptCount val="4"/>
                <c:pt idx="0">
                  <c:v>A</c:v>
                </c:pt>
                <c:pt idx="1">
                  <c:v>C</c:v>
                </c:pt>
                <c:pt idx="2">
                  <c:v>D</c:v>
                </c:pt>
                <c:pt idx="3">
                  <c:v>E</c:v>
                </c:pt>
              </c:strCache>
            </c:strRef>
          </c:cat>
          <c:val>
            <c:numRef>
              <c:f>'Imbalance Segmentation'!$I$23:$I$27</c:f>
              <c:numCache>
                <c:formatCode>0.00%</c:formatCode>
                <c:ptCount val="4"/>
                <c:pt idx="0">
                  <c:v>0.1206906793840247</c:v>
                </c:pt>
                <c:pt idx="1">
                  <c:v>0.23732743744607421</c:v>
                </c:pt>
                <c:pt idx="2">
                  <c:v>0.1202929684816116</c:v>
                </c:pt>
                <c:pt idx="3">
                  <c:v>0.15170034255000112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8BA-4138-8724-4193F299EB6E}"/>
            </c:ext>
          </c:extLst>
        </c:ser>
        <c:ser>
          <c:idx val="3"/>
          <c:order val="3"/>
          <c:tx>
            <c:strRef>
              <c:f>'Imbalance Segmentation'!$J$21:$J$22</c:f>
              <c:strCache>
                <c:ptCount val="1"/>
                <c:pt idx="0">
                  <c:v>Premium Low, Coverage Low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'Imbalance Segmentation'!$F$23:$F$27</c:f>
              <c:strCache>
                <c:ptCount val="4"/>
                <c:pt idx="0">
                  <c:v>A</c:v>
                </c:pt>
                <c:pt idx="1">
                  <c:v>C</c:v>
                </c:pt>
                <c:pt idx="2">
                  <c:v>D</c:v>
                </c:pt>
                <c:pt idx="3">
                  <c:v>E</c:v>
                </c:pt>
              </c:strCache>
            </c:strRef>
          </c:cat>
          <c:val>
            <c:numRef>
              <c:f>'Imbalance Segmentation'!$J$23:$J$27</c:f>
              <c:numCache>
                <c:formatCode>0.00%</c:formatCode>
                <c:ptCount val="4"/>
                <c:pt idx="0">
                  <c:v>0.15382601271821278</c:v>
                </c:pt>
                <c:pt idx="1">
                  <c:v>0.20017256255392579</c:v>
                </c:pt>
                <c:pt idx="2">
                  <c:v>0.15366187699537828</c:v>
                </c:pt>
                <c:pt idx="3">
                  <c:v>0.13376448028241483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8BA-4138-8724-4193F299EB6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200482159"/>
        <c:axId val="1200479279"/>
      </c:barChart>
      <c:catAx>
        <c:axId val="12004821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0479279"/>
        <c:crosses val="autoZero"/>
        <c:auto val="1"/>
        <c:lblAlgn val="ctr"/>
        <c:lblOffset val="100"/>
        <c:noMultiLvlLbl val="0"/>
      </c:catAx>
      <c:valAx>
        <c:axId val="12004792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04821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[data_powerpoint.xlsx]Sheet3!PivotTable4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Premiums Collected Over Time…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Sheet3!$F$2:$F$3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cat>
            <c:multiLvlStrRef>
              <c:f>Sheet3!$E$4:$E$148</c:f>
              <c:multiLvlStrCache>
                <c:ptCount val="138"/>
                <c:lvl>
                  <c:pt idx="0">
                    <c:v>02-Jan</c:v>
                  </c:pt>
                  <c:pt idx="1">
                    <c:v>03-Jan</c:v>
                  </c:pt>
                  <c:pt idx="2">
                    <c:v>06-Jan</c:v>
                  </c:pt>
                  <c:pt idx="3">
                    <c:v>07-Jan</c:v>
                  </c:pt>
                  <c:pt idx="4">
                    <c:v>08-Jan</c:v>
                  </c:pt>
                  <c:pt idx="5">
                    <c:v>09-Jan</c:v>
                  </c:pt>
                  <c:pt idx="6">
                    <c:v>10-Jan</c:v>
                  </c:pt>
                  <c:pt idx="7">
                    <c:v>13-Jan</c:v>
                  </c:pt>
                  <c:pt idx="8">
                    <c:v>14-Jan</c:v>
                  </c:pt>
                  <c:pt idx="9">
                    <c:v>15-Jan</c:v>
                  </c:pt>
                  <c:pt idx="10">
                    <c:v>16-Jan</c:v>
                  </c:pt>
                  <c:pt idx="11">
                    <c:v>17-Jan</c:v>
                  </c:pt>
                  <c:pt idx="12">
                    <c:v>20-Jan</c:v>
                  </c:pt>
                  <c:pt idx="13">
                    <c:v>21-Jan</c:v>
                  </c:pt>
                  <c:pt idx="14">
                    <c:v>22-Jan</c:v>
                  </c:pt>
                  <c:pt idx="15">
                    <c:v>23-Jan</c:v>
                  </c:pt>
                  <c:pt idx="16">
                    <c:v>24-Jan</c:v>
                  </c:pt>
                  <c:pt idx="17">
                    <c:v>28-Jan</c:v>
                  </c:pt>
                  <c:pt idx="18">
                    <c:v>29-Jan</c:v>
                  </c:pt>
                  <c:pt idx="19">
                    <c:v>30-Jan</c:v>
                  </c:pt>
                  <c:pt idx="20">
                    <c:v>31-Jan</c:v>
                  </c:pt>
                  <c:pt idx="21">
                    <c:v>03-Feb</c:v>
                  </c:pt>
                  <c:pt idx="22">
                    <c:v>04-Feb</c:v>
                  </c:pt>
                  <c:pt idx="23">
                    <c:v>05-Feb</c:v>
                  </c:pt>
                  <c:pt idx="24">
                    <c:v>06-Feb</c:v>
                  </c:pt>
                  <c:pt idx="25">
                    <c:v>07-Feb</c:v>
                  </c:pt>
                  <c:pt idx="26">
                    <c:v>10-Feb</c:v>
                  </c:pt>
                  <c:pt idx="27">
                    <c:v>11-Feb</c:v>
                  </c:pt>
                  <c:pt idx="28">
                    <c:v>12-Feb</c:v>
                  </c:pt>
                  <c:pt idx="29">
                    <c:v>13-Feb</c:v>
                  </c:pt>
                  <c:pt idx="30">
                    <c:v>14-Feb</c:v>
                  </c:pt>
                  <c:pt idx="31">
                    <c:v>17-Feb</c:v>
                  </c:pt>
                  <c:pt idx="32">
                    <c:v>18-Feb</c:v>
                  </c:pt>
                  <c:pt idx="33">
                    <c:v>19-Feb</c:v>
                  </c:pt>
                  <c:pt idx="34">
                    <c:v>20-Feb</c:v>
                  </c:pt>
                  <c:pt idx="35">
                    <c:v>21-Feb</c:v>
                  </c:pt>
                  <c:pt idx="36">
                    <c:v>24-Feb</c:v>
                  </c:pt>
                  <c:pt idx="37">
                    <c:v>25-Feb</c:v>
                  </c:pt>
                  <c:pt idx="38">
                    <c:v>26-Feb</c:v>
                  </c:pt>
                  <c:pt idx="39">
                    <c:v>27-Feb</c:v>
                  </c:pt>
                  <c:pt idx="40">
                    <c:v>28-Feb</c:v>
                  </c:pt>
                  <c:pt idx="41">
                    <c:v>29-Feb</c:v>
                  </c:pt>
                  <c:pt idx="42">
                    <c:v>02-Mar</c:v>
                  </c:pt>
                  <c:pt idx="43">
                    <c:v>03-Mar</c:v>
                  </c:pt>
                  <c:pt idx="44">
                    <c:v>04-Mar</c:v>
                  </c:pt>
                  <c:pt idx="45">
                    <c:v>05-Mar</c:v>
                  </c:pt>
                  <c:pt idx="46">
                    <c:v>06-Mar</c:v>
                  </c:pt>
                  <c:pt idx="47">
                    <c:v>07-Mar</c:v>
                  </c:pt>
                  <c:pt idx="48">
                    <c:v>09-Mar</c:v>
                  </c:pt>
                  <c:pt idx="49">
                    <c:v>10-Mar</c:v>
                  </c:pt>
                  <c:pt idx="50">
                    <c:v>11-Mar</c:v>
                  </c:pt>
                  <c:pt idx="51">
                    <c:v>12-Mar</c:v>
                  </c:pt>
                  <c:pt idx="52">
                    <c:v>13-Mar</c:v>
                  </c:pt>
                  <c:pt idx="53">
                    <c:v>14-Mar</c:v>
                  </c:pt>
                  <c:pt idx="54">
                    <c:v>16-Mar</c:v>
                  </c:pt>
                  <c:pt idx="55">
                    <c:v>17-Mar</c:v>
                  </c:pt>
                  <c:pt idx="56">
                    <c:v>18-Mar</c:v>
                  </c:pt>
                  <c:pt idx="57">
                    <c:v>19-Mar</c:v>
                  </c:pt>
                  <c:pt idx="58">
                    <c:v>20-Mar</c:v>
                  </c:pt>
                  <c:pt idx="59">
                    <c:v>21-Mar</c:v>
                  </c:pt>
                  <c:pt idx="60">
                    <c:v>23-Mar</c:v>
                  </c:pt>
                  <c:pt idx="61">
                    <c:v>24-Mar</c:v>
                  </c:pt>
                  <c:pt idx="62">
                    <c:v>25-Mar</c:v>
                  </c:pt>
                  <c:pt idx="63">
                    <c:v>26-Mar</c:v>
                  </c:pt>
                  <c:pt idx="64">
                    <c:v>27-Mar</c:v>
                  </c:pt>
                  <c:pt idx="65">
                    <c:v>28-Mar</c:v>
                  </c:pt>
                  <c:pt idx="66">
                    <c:v>30-Mar</c:v>
                  </c:pt>
                  <c:pt idx="67">
                    <c:v>31-Mar</c:v>
                  </c:pt>
                  <c:pt idx="68">
                    <c:v>01-Apr</c:v>
                  </c:pt>
                  <c:pt idx="69">
                    <c:v>02-Apr</c:v>
                  </c:pt>
                  <c:pt idx="70">
                    <c:v>03-Apr</c:v>
                  </c:pt>
                  <c:pt idx="71">
                    <c:v>04-Apr</c:v>
                  </c:pt>
                  <c:pt idx="72">
                    <c:v>06-Apr</c:v>
                  </c:pt>
                  <c:pt idx="73">
                    <c:v>07-Apr</c:v>
                  </c:pt>
                  <c:pt idx="74">
                    <c:v>08-Apr</c:v>
                  </c:pt>
                  <c:pt idx="75">
                    <c:v>09-Apr</c:v>
                  </c:pt>
                  <c:pt idx="76">
                    <c:v>10-Apr</c:v>
                  </c:pt>
                  <c:pt idx="77">
                    <c:v>13-Apr</c:v>
                  </c:pt>
                  <c:pt idx="78">
                    <c:v>14-Apr</c:v>
                  </c:pt>
                  <c:pt idx="79">
                    <c:v>15-Apr</c:v>
                  </c:pt>
                  <c:pt idx="80">
                    <c:v>16-Apr</c:v>
                  </c:pt>
                  <c:pt idx="81">
                    <c:v>17-Apr</c:v>
                  </c:pt>
                  <c:pt idx="82">
                    <c:v>18-Apr</c:v>
                  </c:pt>
                  <c:pt idx="83">
                    <c:v>20-Apr</c:v>
                  </c:pt>
                  <c:pt idx="84">
                    <c:v>21-Apr</c:v>
                  </c:pt>
                  <c:pt idx="85">
                    <c:v>22-Apr</c:v>
                  </c:pt>
                  <c:pt idx="86">
                    <c:v>23-Apr</c:v>
                  </c:pt>
                  <c:pt idx="87">
                    <c:v>24-Apr</c:v>
                  </c:pt>
                  <c:pt idx="88">
                    <c:v>27-Apr</c:v>
                  </c:pt>
                  <c:pt idx="89">
                    <c:v>28-Apr</c:v>
                  </c:pt>
                  <c:pt idx="90">
                    <c:v>29-Apr</c:v>
                  </c:pt>
                  <c:pt idx="91">
                    <c:v>30-Apr</c:v>
                  </c:pt>
                  <c:pt idx="92">
                    <c:v>04-May</c:v>
                  </c:pt>
                  <c:pt idx="93">
                    <c:v>05-May</c:v>
                  </c:pt>
                  <c:pt idx="94">
                    <c:v>06-May</c:v>
                  </c:pt>
                  <c:pt idx="95">
                    <c:v>08-May</c:v>
                  </c:pt>
                  <c:pt idx="96">
                    <c:v>12-May</c:v>
                  </c:pt>
                  <c:pt idx="97">
                    <c:v>13-May</c:v>
                  </c:pt>
                  <c:pt idx="98">
                    <c:v>14-May</c:v>
                  </c:pt>
                  <c:pt idx="99">
                    <c:v>15-May</c:v>
                  </c:pt>
                  <c:pt idx="100">
                    <c:v>16-May</c:v>
                  </c:pt>
                  <c:pt idx="101">
                    <c:v>17-May</c:v>
                  </c:pt>
                  <c:pt idx="102">
                    <c:v>18-May</c:v>
                  </c:pt>
                  <c:pt idx="103">
                    <c:v>19-May</c:v>
                  </c:pt>
                  <c:pt idx="104">
                    <c:v>20-May</c:v>
                  </c:pt>
                  <c:pt idx="105">
                    <c:v>21-May</c:v>
                  </c:pt>
                  <c:pt idx="106">
                    <c:v>22-May</c:v>
                  </c:pt>
                  <c:pt idx="107">
                    <c:v>23-May</c:v>
                  </c:pt>
                  <c:pt idx="108">
                    <c:v>26-May</c:v>
                  </c:pt>
                  <c:pt idx="109">
                    <c:v>27-May</c:v>
                  </c:pt>
                  <c:pt idx="110">
                    <c:v>28-May</c:v>
                  </c:pt>
                  <c:pt idx="111">
                    <c:v>29-May</c:v>
                  </c:pt>
                  <c:pt idx="112">
                    <c:v>30-May</c:v>
                  </c:pt>
                  <c:pt idx="113">
                    <c:v>01-Jun</c:v>
                  </c:pt>
                  <c:pt idx="114">
                    <c:v>02-Jun</c:v>
                  </c:pt>
                  <c:pt idx="115">
                    <c:v>03-Jun</c:v>
                  </c:pt>
                  <c:pt idx="116">
                    <c:v>04-Jun</c:v>
                  </c:pt>
                  <c:pt idx="117">
                    <c:v>05-Jun</c:v>
                  </c:pt>
                  <c:pt idx="118">
                    <c:v>06-Jun</c:v>
                  </c:pt>
                  <c:pt idx="119">
                    <c:v>09-Jun</c:v>
                  </c:pt>
                  <c:pt idx="120">
                    <c:v>10-Jun</c:v>
                  </c:pt>
                  <c:pt idx="121">
                    <c:v>11-Jun</c:v>
                  </c:pt>
                  <c:pt idx="122">
                    <c:v>12-Jun</c:v>
                  </c:pt>
                  <c:pt idx="123">
                    <c:v>13-Jun</c:v>
                  </c:pt>
                  <c:pt idx="124">
                    <c:v>15-Jun</c:v>
                  </c:pt>
                  <c:pt idx="125">
                    <c:v>16-Jun</c:v>
                  </c:pt>
                  <c:pt idx="126">
                    <c:v>17-Jun</c:v>
                  </c:pt>
                  <c:pt idx="127">
                    <c:v>18-Jun</c:v>
                  </c:pt>
                  <c:pt idx="128">
                    <c:v>19-Jun</c:v>
                  </c:pt>
                  <c:pt idx="129">
                    <c:v>20-Jun</c:v>
                  </c:pt>
                  <c:pt idx="130">
                    <c:v>22-Jun</c:v>
                  </c:pt>
                  <c:pt idx="131">
                    <c:v>23-Jun</c:v>
                  </c:pt>
                  <c:pt idx="132">
                    <c:v>24-Jun</c:v>
                  </c:pt>
                  <c:pt idx="133">
                    <c:v>25-Jun</c:v>
                  </c:pt>
                  <c:pt idx="134">
                    <c:v>26-Jun</c:v>
                  </c:pt>
                  <c:pt idx="135">
                    <c:v>27-Jun</c:v>
                  </c:pt>
                  <c:pt idx="136">
                    <c:v>28-Jun</c:v>
                  </c:pt>
                  <c:pt idx="137">
                    <c:v>29-Jun</c:v>
                  </c:pt>
                </c:lvl>
                <c:lvl>
                  <c:pt idx="0">
                    <c:v>Jan</c:v>
                  </c:pt>
                  <c:pt idx="21">
                    <c:v>Feb</c:v>
                  </c:pt>
                  <c:pt idx="42">
                    <c:v>Mar</c:v>
                  </c:pt>
                  <c:pt idx="68">
                    <c:v>Apr</c:v>
                  </c:pt>
                  <c:pt idx="92">
                    <c:v>May</c:v>
                  </c:pt>
                  <c:pt idx="113">
                    <c:v>Jun</c:v>
                  </c:pt>
                </c:lvl>
              </c:multiLvlStrCache>
            </c:multiLvlStrRef>
          </c:cat>
          <c:val>
            <c:numRef>
              <c:f>Sheet3!$F$4:$F$148</c:f>
              <c:numCache>
                <c:formatCode>"RM"#,##0.00</c:formatCode>
                <c:ptCount val="138"/>
                <c:pt idx="0">
                  <c:v>122047</c:v>
                </c:pt>
                <c:pt idx="1">
                  <c:v>132881</c:v>
                </c:pt>
                <c:pt idx="2">
                  <c:v>36810</c:v>
                </c:pt>
                <c:pt idx="3">
                  <c:v>6159</c:v>
                </c:pt>
                <c:pt idx="4">
                  <c:v>55486</c:v>
                </c:pt>
                <c:pt idx="5">
                  <c:v>109836</c:v>
                </c:pt>
                <c:pt idx="6">
                  <c:v>44306</c:v>
                </c:pt>
                <c:pt idx="7">
                  <c:v>60904</c:v>
                </c:pt>
                <c:pt idx="8">
                  <c:v>4581</c:v>
                </c:pt>
                <c:pt idx="9">
                  <c:v>61859</c:v>
                </c:pt>
                <c:pt idx="10">
                  <c:v>78935</c:v>
                </c:pt>
                <c:pt idx="11">
                  <c:v>25101</c:v>
                </c:pt>
                <c:pt idx="12">
                  <c:v>67219</c:v>
                </c:pt>
                <c:pt idx="13">
                  <c:v>67507</c:v>
                </c:pt>
                <c:pt idx="14">
                  <c:v>82743</c:v>
                </c:pt>
                <c:pt idx="15">
                  <c:v>111910</c:v>
                </c:pt>
                <c:pt idx="16">
                  <c:v>90773</c:v>
                </c:pt>
                <c:pt idx="17">
                  <c:v>48919</c:v>
                </c:pt>
                <c:pt idx="18">
                  <c:v>31315</c:v>
                </c:pt>
                <c:pt idx="19">
                  <c:v>54200</c:v>
                </c:pt>
                <c:pt idx="20">
                  <c:v>175908</c:v>
                </c:pt>
                <c:pt idx="21">
                  <c:v>49998</c:v>
                </c:pt>
                <c:pt idx="22">
                  <c:v>36049</c:v>
                </c:pt>
                <c:pt idx="23">
                  <c:v>1307</c:v>
                </c:pt>
                <c:pt idx="24">
                  <c:v>52602</c:v>
                </c:pt>
                <c:pt idx="25">
                  <c:v>2297</c:v>
                </c:pt>
                <c:pt idx="26">
                  <c:v>58290</c:v>
                </c:pt>
                <c:pt idx="27">
                  <c:v>54522</c:v>
                </c:pt>
                <c:pt idx="28">
                  <c:v>8528</c:v>
                </c:pt>
                <c:pt idx="29">
                  <c:v>84919</c:v>
                </c:pt>
                <c:pt idx="30">
                  <c:v>14493</c:v>
                </c:pt>
                <c:pt idx="31">
                  <c:v>4546</c:v>
                </c:pt>
                <c:pt idx="32">
                  <c:v>18537</c:v>
                </c:pt>
                <c:pt idx="33">
                  <c:v>107515</c:v>
                </c:pt>
                <c:pt idx="34">
                  <c:v>70173</c:v>
                </c:pt>
                <c:pt idx="35">
                  <c:v>114266</c:v>
                </c:pt>
                <c:pt idx="36">
                  <c:v>73624</c:v>
                </c:pt>
                <c:pt idx="37">
                  <c:v>14282</c:v>
                </c:pt>
                <c:pt idx="38">
                  <c:v>71110</c:v>
                </c:pt>
                <c:pt idx="39">
                  <c:v>80270</c:v>
                </c:pt>
                <c:pt idx="40">
                  <c:v>159722</c:v>
                </c:pt>
                <c:pt idx="41">
                  <c:v>168360</c:v>
                </c:pt>
                <c:pt idx="42">
                  <c:v>652</c:v>
                </c:pt>
                <c:pt idx="43">
                  <c:v>47366</c:v>
                </c:pt>
                <c:pt idx="44">
                  <c:v>10368</c:v>
                </c:pt>
                <c:pt idx="45">
                  <c:v>41881</c:v>
                </c:pt>
                <c:pt idx="46">
                  <c:v>49842</c:v>
                </c:pt>
                <c:pt idx="48">
                  <c:v>81693</c:v>
                </c:pt>
                <c:pt idx="49">
                  <c:v>77983</c:v>
                </c:pt>
                <c:pt idx="50">
                  <c:v>72808</c:v>
                </c:pt>
                <c:pt idx="51">
                  <c:v>42080</c:v>
                </c:pt>
                <c:pt idx="52">
                  <c:v>45180</c:v>
                </c:pt>
                <c:pt idx="53">
                  <c:v>21996</c:v>
                </c:pt>
                <c:pt idx="54">
                  <c:v>64393</c:v>
                </c:pt>
                <c:pt idx="55">
                  <c:v>79692</c:v>
                </c:pt>
                <c:pt idx="56">
                  <c:v>73529</c:v>
                </c:pt>
                <c:pt idx="57">
                  <c:v>71292</c:v>
                </c:pt>
                <c:pt idx="58">
                  <c:v>53112</c:v>
                </c:pt>
                <c:pt idx="59">
                  <c:v>35462</c:v>
                </c:pt>
                <c:pt idx="60">
                  <c:v>52010</c:v>
                </c:pt>
                <c:pt idx="61">
                  <c:v>142359</c:v>
                </c:pt>
                <c:pt idx="62">
                  <c:v>45807</c:v>
                </c:pt>
                <c:pt idx="63">
                  <c:v>152341</c:v>
                </c:pt>
                <c:pt idx="64">
                  <c:v>86533</c:v>
                </c:pt>
                <c:pt idx="65">
                  <c:v>25260</c:v>
                </c:pt>
                <c:pt idx="66">
                  <c:v>165484</c:v>
                </c:pt>
                <c:pt idx="67">
                  <c:v>171686</c:v>
                </c:pt>
                <c:pt idx="68">
                  <c:v>26540</c:v>
                </c:pt>
                <c:pt idx="69">
                  <c:v>43263</c:v>
                </c:pt>
                <c:pt idx="70">
                  <c:v>7408</c:v>
                </c:pt>
                <c:pt idx="71">
                  <c:v>31152</c:v>
                </c:pt>
                <c:pt idx="72">
                  <c:v>8966</c:v>
                </c:pt>
                <c:pt idx="73">
                  <c:v>1359</c:v>
                </c:pt>
                <c:pt idx="74">
                  <c:v>41158</c:v>
                </c:pt>
                <c:pt idx="75">
                  <c:v>74850</c:v>
                </c:pt>
                <c:pt idx="76">
                  <c:v>76682</c:v>
                </c:pt>
                <c:pt idx="77">
                  <c:v>28430</c:v>
                </c:pt>
                <c:pt idx="78">
                  <c:v>5199</c:v>
                </c:pt>
                <c:pt idx="79">
                  <c:v>55231</c:v>
                </c:pt>
                <c:pt idx="80">
                  <c:v>81007</c:v>
                </c:pt>
                <c:pt idx="81">
                  <c:v>85712</c:v>
                </c:pt>
                <c:pt idx="82">
                  <c:v>15682</c:v>
                </c:pt>
                <c:pt idx="83">
                  <c:v>119525</c:v>
                </c:pt>
                <c:pt idx="84">
                  <c:v>58179</c:v>
                </c:pt>
                <c:pt idx="85">
                  <c:v>84994</c:v>
                </c:pt>
                <c:pt idx="86">
                  <c:v>26157</c:v>
                </c:pt>
                <c:pt idx="87">
                  <c:v>55258</c:v>
                </c:pt>
                <c:pt idx="88">
                  <c:v>71236</c:v>
                </c:pt>
                <c:pt idx="89">
                  <c:v>110090</c:v>
                </c:pt>
                <c:pt idx="90">
                  <c:v>155754</c:v>
                </c:pt>
                <c:pt idx="91">
                  <c:v>204360</c:v>
                </c:pt>
                <c:pt idx="92">
                  <c:v>90629</c:v>
                </c:pt>
                <c:pt idx="93">
                  <c:v>79695</c:v>
                </c:pt>
                <c:pt idx="94">
                  <c:v>60043</c:v>
                </c:pt>
                <c:pt idx="95">
                  <c:v>90648</c:v>
                </c:pt>
                <c:pt idx="96">
                  <c:v>33578</c:v>
                </c:pt>
                <c:pt idx="97">
                  <c:v>164283</c:v>
                </c:pt>
                <c:pt idx="98">
                  <c:v>42445</c:v>
                </c:pt>
                <c:pt idx="99">
                  <c:v>101004</c:v>
                </c:pt>
                <c:pt idx="100">
                  <c:v>48696</c:v>
                </c:pt>
                <c:pt idx="101">
                  <c:v>11976</c:v>
                </c:pt>
                <c:pt idx="102">
                  <c:v>112924</c:v>
                </c:pt>
                <c:pt idx="103">
                  <c:v>128273</c:v>
                </c:pt>
                <c:pt idx="104">
                  <c:v>79538</c:v>
                </c:pt>
                <c:pt idx="105">
                  <c:v>85831</c:v>
                </c:pt>
                <c:pt idx="106">
                  <c:v>224897</c:v>
                </c:pt>
                <c:pt idx="107">
                  <c:v>8145</c:v>
                </c:pt>
                <c:pt idx="108">
                  <c:v>12600</c:v>
                </c:pt>
                <c:pt idx="109">
                  <c:v>167020</c:v>
                </c:pt>
                <c:pt idx="110">
                  <c:v>316574</c:v>
                </c:pt>
                <c:pt idx="111">
                  <c:v>476841</c:v>
                </c:pt>
                <c:pt idx="112">
                  <c:v>207573</c:v>
                </c:pt>
                <c:pt idx="113">
                  <c:v>24203</c:v>
                </c:pt>
                <c:pt idx="114">
                  <c:v>132244</c:v>
                </c:pt>
                <c:pt idx="115">
                  <c:v>167575</c:v>
                </c:pt>
                <c:pt idx="116">
                  <c:v>85903</c:v>
                </c:pt>
                <c:pt idx="117">
                  <c:v>57113</c:v>
                </c:pt>
                <c:pt idx="118">
                  <c:v>25956</c:v>
                </c:pt>
                <c:pt idx="119">
                  <c:v>152269</c:v>
                </c:pt>
                <c:pt idx="120">
                  <c:v>187913</c:v>
                </c:pt>
                <c:pt idx="121">
                  <c:v>145026</c:v>
                </c:pt>
                <c:pt idx="122">
                  <c:v>178304</c:v>
                </c:pt>
                <c:pt idx="123">
                  <c:v>4987</c:v>
                </c:pt>
                <c:pt idx="124">
                  <c:v>131829</c:v>
                </c:pt>
                <c:pt idx="125">
                  <c:v>152548</c:v>
                </c:pt>
                <c:pt idx="126">
                  <c:v>120222</c:v>
                </c:pt>
                <c:pt idx="127">
                  <c:v>145644</c:v>
                </c:pt>
                <c:pt idx="128">
                  <c:v>274341</c:v>
                </c:pt>
                <c:pt idx="129">
                  <c:v>54952</c:v>
                </c:pt>
                <c:pt idx="130">
                  <c:v>249757</c:v>
                </c:pt>
                <c:pt idx="131">
                  <c:v>497360</c:v>
                </c:pt>
                <c:pt idx="132">
                  <c:v>617649</c:v>
                </c:pt>
                <c:pt idx="133">
                  <c:v>976693</c:v>
                </c:pt>
                <c:pt idx="134">
                  <c:v>947893</c:v>
                </c:pt>
                <c:pt idx="135">
                  <c:v>360398</c:v>
                </c:pt>
                <c:pt idx="136">
                  <c:v>107668</c:v>
                </c:pt>
                <c:pt idx="137">
                  <c:v>57726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76-48F4-B79D-88122B1DD2AB}"/>
            </c:ext>
          </c:extLst>
        </c:ser>
        <c:ser>
          <c:idx val="1"/>
          <c:order val="1"/>
          <c:tx>
            <c:strRef>
              <c:f>Sheet3!$G$2:$G$3</c:f>
              <c:strCache>
                <c:ptCount val="1"/>
                <c:pt idx="0">
                  <c:v>C</c:v>
                </c:pt>
              </c:strCache>
            </c:strRef>
          </c:tx>
          <c:spPr>
            <a:solidFill>
              <a:srgbClr val="FDA9C7"/>
            </a:solidFill>
            <a:ln>
              <a:noFill/>
            </a:ln>
            <a:effectLst/>
          </c:spPr>
          <c:invertIfNegative val="0"/>
          <c:cat>
            <c:multiLvlStrRef>
              <c:f>Sheet3!$E$4:$E$148</c:f>
              <c:multiLvlStrCache>
                <c:ptCount val="138"/>
                <c:lvl>
                  <c:pt idx="0">
                    <c:v>02-Jan</c:v>
                  </c:pt>
                  <c:pt idx="1">
                    <c:v>03-Jan</c:v>
                  </c:pt>
                  <c:pt idx="2">
                    <c:v>06-Jan</c:v>
                  </c:pt>
                  <c:pt idx="3">
                    <c:v>07-Jan</c:v>
                  </c:pt>
                  <c:pt idx="4">
                    <c:v>08-Jan</c:v>
                  </c:pt>
                  <c:pt idx="5">
                    <c:v>09-Jan</c:v>
                  </c:pt>
                  <c:pt idx="6">
                    <c:v>10-Jan</c:v>
                  </c:pt>
                  <c:pt idx="7">
                    <c:v>13-Jan</c:v>
                  </c:pt>
                  <c:pt idx="8">
                    <c:v>14-Jan</c:v>
                  </c:pt>
                  <c:pt idx="9">
                    <c:v>15-Jan</c:v>
                  </c:pt>
                  <c:pt idx="10">
                    <c:v>16-Jan</c:v>
                  </c:pt>
                  <c:pt idx="11">
                    <c:v>17-Jan</c:v>
                  </c:pt>
                  <c:pt idx="12">
                    <c:v>20-Jan</c:v>
                  </c:pt>
                  <c:pt idx="13">
                    <c:v>21-Jan</c:v>
                  </c:pt>
                  <c:pt idx="14">
                    <c:v>22-Jan</c:v>
                  </c:pt>
                  <c:pt idx="15">
                    <c:v>23-Jan</c:v>
                  </c:pt>
                  <c:pt idx="16">
                    <c:v>24-Jan</c:v>
                  </c:pt>
                  <c:pt idx="17">
                    <c:v>28-Jan</c:v>
                  </c:pt>
                  <c:pt idx="18">
                    <c:v>29-Jan</c:v>
                  </c:pt>
                  <c:pt idx="19">
                    <c:v>30-Jan</c:v>
                  </c:pt>
                  <c:pt idx="20">
                    <c:v>31-Jan</c:v>
                  </c:pt>
                  <c:pt idx="21">
                    <c:v>03-Feb</c:v>
                  </c:pt>
                  <c:pt idx="22">
                    <c:v>04-Feb</c:v>
                  </c:pt>
                  <c:pt idx="23">
                    <c:v>05-Feb</c:v>
                  </c:pt>
                  <c:pt idx="24">
                    <c:v>06-Feb</c:v>
                  </c:pt>
                  <c:pt idx="25">
                    <c:v>07-Feb</c:v>
                  </c:pt>
                  <c:pt idx="26">
                    <c:v>10-Feb</c:v>
                  </c:pt>
                  <c:pt idx="27">
                    <c:v>11-Feb</c:v>
                  </c:pt>
                  <c:pt idx="28">
                    <c:v>12-Feb</c:v>
                  </c:pt>
                  <c:pt idx="29">
                    <c:v>13-Feb</c:v>
                  </c:pt>
                  <c:pt idx="30">
                    <c:v>14-Feb</c:v>
                  </c:pt>
                  <c:pt idx="31">
                    <c:v>17-Feb</c:v>
                  </c:pt>
                  <c:pt idx="32">
                    <c:v>18-Feb</c:v>
                  </c:pt>
                  <c:pt idx="33">
                    <c:v>19-Feb</c:v>
                  </c:pt>
                  <c:pt idx="34">
                    <c:v>20-Feb</c:v>
                  </c:pt>
                  <c:pt idx="35">
                    <c:v>21-Feb</c:v>
                  </c:pt>
                  <c:pt idx="36">
                    <c:v>24-Feb</c:v>
                  </c:pt>
                  <c:pt idx="37">
                    <c:v>25-Feb</c:v>
                  </c:pt>
                  <c:pt idx="38">
                    <c:v>26-Feb</c:v>
                  </c:pt>
                  <c:pt idx="39">
                    <c:v>27-Feb</c:v>
                  </c:pt>
                  <c:pt idx="40">
                    <c:v>28-Feb</c:v>
                  </c:pt>
                  <c:pt idx="41">
                    <c:v>29-Feb</c:v>
                  </c:pt>
                  <c:pt idx="42">
                    <c:v>02-Mar</c:v>
                  </c:pt>
                  <c:pt idx="43">
                    <c:v>03-Mar</c:v>
                  </c:pt>
                  <c:pt idx="44">
                    <c:v>04-Mar</c:v>
                  </c:pt>
                  <c:pt idx="45">
                    <c:v>05-Mar</c:v>
                  </c:pt>
                  <c:pt idx="46">
                    <c:v>06-Mar</c:v>
                  </c:pt>
                  <c:pt idx="47">
                    <c:v>07-Mar</c:v>
                  </c:pt>
                  <c:pt idx="48">
                    <c:v>09-Mar</c:v>
                  </c:pt>
                  <c:pt idx="49">
                    <c:v>10-Mar</c:v>
                  </c:pt>
                  <c:pt idx="50">
                    <c:v>11-Mar</c:v>
                  </c:pt>
                  <c:pt idx="51">
                    <c:v>12-Mar</c:v>
                  </c:pt>
                  <c:pt idx="52">
                    <c:v>13-Mar</c:v>
                  </c:pt>
                  <c:pt idx="53">
                    <c:v>14-Mar</c:v>
                  </c:pt>
                  <c:pt idx="54">
                    <c:v>16-Mar</c:v>
                  </c:pt>
                  <c:pt idx="55">
                    <c:v>17-Mar</c:v>
                  </c:pt>
                  <c:pt idx="56">
                    <c:v>18-Mar</c:v>
                  </c:pt>
                  <c:pt idx="57">
                    <c:v>19-Mar</c:v>
                  </c:pt>
                  <c:pt idx="58">
                    <c:v>20-Mar</c:v>
                  </c:pt>
                  <c:pt idx="59">
                    <c:v>21-Mar</c:v>
                  </c:pt>
                  <c:pt idx="60">
                    <c:v>23-Mar</c:v>
                  </c:pt>
                  <c:pt idx="61">
                    <c:v>24-Mar</c:v>
                  </c:pt>
                  <c:pt idx="62">
                    <c:v>25-Mar</c:v>
                  </c:pt>
                  <c:pt idx="63">
                    <c:v>26-Mar</c:v>
                  </c:pt>
                  <c:pt idx="64">
                    <c:v>27-Mar</c:v>
                  </c:pt>
                  <c:pt idx="65">
                    <c:v>28-Mar</c:v>
                  </c:pt>
                  <c:pt idx="66">
                    <c:v>30-Mar</c:v>
                  </c:pt>
                  <c:pt idx="67">
                    <c:v>31-Mar</c:v>
                  </c:pt>
                  <c:pt idx="68">
                    <c:v>01-Apr</c:v>
                  </c:pt>
                  <c:pt idx="69">
                    <c:v>02-Apr</c:v>
                  </c:pt>
                  <c:pt idx="70">
                    <c:v>03-Apr</c:v>
                  </c:pt>
                  <c:pt idx="71">
                    <c:v>04-Apr</c:v>
                  </c:pt>
                  <c:pt idx="72">
                    <c:v>06-Apr</c:v>
                  </c:pt>
                  <c:pt idx="73">
                    <c:v>07-Apr</c:v>
                  </c:pt>
                  <c:pt idx="74">
                    <c:v>08-Apr</c:v>
                  </c:pt>
                  <c:pt idx="75">
                    <c:v>09-Apr</c:v>
                  </c:pt>
                  <c:pt idx="76">
                    <c:v>10-Apr</c:v>
                  </c:pt>
                  <c:pt idx="77">
                    <c:v>13-Apr</c:v>
                  </c:pt>
                  <c:pt idx="78">
                    <c:v>14-Apr</c:v>
                  </c:pt>
                  <c:pt idx="79">
                    <c:v>15-Apr</c:v>
                  </c:pt>
                  <c:pt idx="80">
                    <c:v>16-Apr</c:v>
                  </c:pt>
                  <c:pt idx="81">
                    <c:v>17-Apr</c:v>
                  </c:pt>
                  <c:pt idx="82">
                    <c:v>18-Apr</c:v>
                  </c:pt>
                  <c:pt idx="83">
                    <c:v>20-Apr</c:v>
                  </c:pt>
                  <c:pt idx="84">
                    <c:v>21-Apr</c:v>
                  </c:pt>
                  <c:pt idx="85">
                    <c:v>22-Apr</c:v>
                  </c:pt>
                  <c:pt idx="86">
                    <c:v>23-Apr</c:v>
                  </c:pt>
                  <c:pt idx="87">
                    <c:v>24-Apr</c:v>
                  </c:pt>
                  <c:pt idx="88">
                    <c:v>27-Apr</c:v>
                  </c:pt>
                  <c:pt idx="89">
                    <c:v>28-Apr</c:v>
                  </c:pt>
                  <c:pt idx="90">
                    <c:v>29-Apr</c:v>
                  </c:pt>
                  <c:pt idx="91">
                    <c:v>30-Apr</c:v>
                  </c:pt>
                  <c:pt idx="92">
                    <c:v>04-May</c:v>
                  </c:pt>
                  <c:pt idx="93">
                    <c:v>05-May</c:v>
                  </c:pt>
                  <c:pt idx="94">
                    <c:v>06-May</c:v>
                  </c:pt>
                  <c:pt idx="95">
                    <c:v>08-May</c:v>
                  </c:pt>
                  <c:pt idx="96">
                    <c:v>12-May</c:v>
                  </c:pt>
                  <c:pt idx="97">
                    <c:v>13-May</c:v>
                  </c:pt>
                  <c:pt idx="98">
                    <c:v>14-May</c:v>
                  </c:pt>
                  <c:pt idx="99">
                    <c:v>15-May</c:v>
                  </c:pt>
                  <c:pt idx="100">
                    <c:v>16-May</c:v>
                  </c:pt>
                  <c:pt idx="101">
                    <c:v>17-May</c:v>
                  </c:pt>
                  <c:pt idx="102">
                    <c:v>18-May</c:v>
                  </c:pt>
                  <c:pt idx="103">
                    <c:v>19-May</c:v>
                  </c:pt>
                  <c:pt idx="104">
                    <c:v>20-May</c:v>
                  </c:pt>
                  <c:pt idx="105">
                    <c:v>21-May</c:v>
                  </c:pt>
                  <c:pt idx="106">
                    <c:v>22-May</c:v>
                  </c:pt>
                  <c:pt idx="107">
                    <c:v>23-May</c:v>
                  </c:pt>
                  <c:pt idx="108">
                    <c:v>26-May</c:v>
                  </c:pt>
                  <c:pt idx="109">
                    <c:v>27-May</c:v>
                  </c:pt>
                  <c:pt idx="110">
                    <c:v>28-May</c:v>
                  </c:pt>
                  <c:pt idx="111">
                    <c:v>29-May</c:v>
                  </c:pt>
                  <c:pt idx="112">
                    <c:v>30-May</c:v>
                  </c:pt>
                  <c:pt idx="113">
                    <c:v>01-Jun</c:v>
                  </c:pt>
                  <c:pt idx="114">
                    <c:v>02-Jun</c:v>
                  </c:pt>
                  <c:pt idx="115">
                    <c:v>03-Jun</c:v>
                  </c:pt>
                  <c:pt idx="116">
                    <c:v>04-Jun</c:v>
                  </c:pt>
                  <c:pt idx="117">
                    <c:v>05-Jun</c:v>
                  </c:pt>
                  <c:pt idx="118">
                    <c:v>06-Jun</c:v>
                  </c:pt>
                  <c:pt idx="119">
                    <c:v>09-Jun</c:v>
                  </c:pt>
                  <c:pt idx="120">
                    <c:v>10-Jun</c:v>
                  </c:pt>
                  <c:pt idx="121">
                    <c:v>11-Jun</c:v>
                  </c:pt>
                  <c:pt idx="122">
                    <c:v>12-Jun</c:v>
                  </c:pt>
                  <c:pt idx="123">
                    <c:v>13-Jun</c:v>
                  </c:pt>
                  <c:pt idx="124">
                    <c:v>15-Jun</c:v>
                  </c:pt>
                  <c:pt idx="125">
                    <c:v>16-Jun</c:v>
                  </c:pt>
                  <c:pt idx="126">
                    <c:v>17-Jun</c:v>
                  </c:pt>
                  <c:pt idx="127">
                    <c:v>18-Jun</c:v>
                  </c:pt>
                  <c:pt idx="128">
                    <c:v>19-Jun</c:v>
                  </c:pt>
                  <c:pt idx="129">
                    <c:v>20-Jun</c:v>
                  </c:pt>
                  <c:pt idx="130">
                    <c:v>22-Jun</c:v>
                  </c:pt>
                  <c:pt idx="131">
                    <c:v>23-Jun</c:v>
                  </c:pt>
                  <c:pt idx="132">
                    <c:v>24-Jun</c:v>
                  </c:pt>
                  <c:pt idx="133">
                    <c:v>25-Jun</c:v>
                  </c:pt>
                  <c:pt idx="134">
                    <c:v>26-Jun</c:v>
                  </c:pt>
                  <c:pt idx="135">
                    <c:v>27-Jun</c:v>
                  </c:pt>
                  <c:pt idx="136">
                    <c:v>28-Jun</c:v>
                  </c:pt>
                  <c:pt idx="137">
                    <c:v>29-Jun</c:v>
                  </c:pt>
                </c:lvl>
                <c:lvl>
                  <c:pt idx="0">
                    <c:v>Jan</c:v>
                  </c:pt>
                  <c:pt idx="21">
                    <c:v>Feb</c:v>
                  </c:pt>
                  <c:pt idx="42">
                    <c:v>Mar</c:v>
                  </c:pt>
                  <c:pt idx="68">
                    <c:v>Apr</c:v>
                  </c:pt>
                  <c:pt idx="92">
                    <c:v>May</c:v>
                  </c:pt>
                  <c:pt idx="113">
                    <c:v>Jun</c:v>
                  </c:pt>
                </c:lvl>
              </c:multiLvlStrCache>
            </c:multiLvlStrRef>
          </c:cat>
          <c:val>
            <c:numRef>
              <c:f>Sheet3!$G$4:$G$148</c:f>
              <c:numCache>
                <c:formatCode>General</c:formatCode>
                <c:ptCount val="138"/>
                <c:pt idx="12" formatCode="&quot;RM&quot;#,##0.00">
                  <c:v>15816</c:v>
                </c:pt>
                <c:pt idx="20" formatCode="&quot;RM&quot;#,##0.00">
                  <c:v>34224</c:v>
                </c:pt>
                <c:pt idx="30" formatCode="&quot;RM&quot;#,##0.00">
                  <c:v>24312</c:v>
                </c:pt>
                <c:pt idx="37" formatCode="&quot;RM&quot;#,##0.00">
                  <c:v>24084</c:v>
                </c:pt>
                <c:pt idx="38" formatCode="&quot;RM&quot;#,##0.00">
                  <c:v>26940</c:v>
                </c:pt>
                <c:pt idx="72" formatCode="&quot;RM&quot;#,##0.00">
                  <c:v>28668</c:v>
                </c:pt>
                <c:pt idx="79" formatCode="&quot;RM&quot;#,##0.00">
                  <c:v>12912</c:v>
                </c:pt>
                <c:pt idx="99" formatCode="&quot;RM&quot;#,##0.00">
                  <c:v>35340</c:v>
                </c:pt>
                <c:pt idx="131" formatCode="&quot;RM&quot;#,##0.00">
                  <c:v>20232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C76-48F4-B79D-88122B1DD2AB}"/>
            </c:ext>
          </c:extLst>
        </c:ser>
        <c:ser>
          <c:idx val="2"/>
          <c:order val="2"/>
          <c:tx>
            <c:strRef>
              <c:f>Sheet3!$H$2:$H$3</c:f>
              <c:strCache>
                <c:ptCount val="1"/>
                <c:pt idx="0">
                  <c:v>D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multiLvlStrRef>
              <c:f>Sheet3!$E$4:$E$148</c:f>
              <c:multiLvlStrCache>
                <c:ptCount val="138"/>
                <c:lvl>
                  <c:pt idx="0">
                    <c:v>02-Jan</c:v>
                  </c:pt>
                  <c:pt idx="1">
                    <c:v>03-Jan</c:v>
                  </c:pt>
                  <c:pt idx="2">
                    <c:v>06-Jan</c:v>
                  </c:pt>
                  <c:pt idx="3">
                    <c:v>07-Jan</c:v>
                  </c:pt>
                  <c:pt idx="4">
                    <c:v>08-Jan</c:v>
                  </c:pt>
                  <c:pt idx="5">
                    <c:v>09-Jan</c:v>
                  </c:pt>
                  <c:pt idx="6">
                    <c:v>10-Jan</c:v>
                  </c:pt>
                  <c:pt idx="7">
                    <c:v>13-Jan</c:v>
                  </c:pt>
                  <c:pt idx="8">
                    <c:v>14-Jan</c:v>
                  </c:pt>
                  <c:pt idx="9">
                    <c:v>15-Jan</c:v>
                  </c:pt>
                  <c:pt idx="10">
                    <c:v>16-Jan</c:v>
                  </c:pt>
                  <c:pt idx="11">
                    <c:v>17-Jan</c:v>
                  </c:pt>
                  <c:pt idx="12">
                    <c:v>20-Jan</c:v>
                  </c:pt>
                  <c:pt idx="13">
                    <c:v>21-Jan</c:v>
                  </c:pt>
                  <c:pt idx="14">
                    <c:v>22-Jan</c:v>
                  </c:pt>
                  <c:pt idx="15">
                    <c:v>23-Jan</c:v>
                  </c:pt>
                  <c:pt idx="16">
                    <c:v>24-Jan</c:v>
                  </c:pt>
                  <c:pt idx="17">
                    <c:v>28-Jan</c:v>
                  </c:pt>
                  <c:pt idx="18">
                    <c:v>29-Jan</c:v>
                  </c:pt>
                  <c:pt idx="19">
                    <c:v>30-Jan</c:v>
                  </c:pt>
                  <c:pt idx="20">
                    <c:v>31-Jan</c:v>
                  </c:pt>
                  <c:pt idx="21">
                    <c:v>03-Feb</c:v>
                  </c:pt>
                  <c:pt idx="22">
                    <c:v>04-Feb</c:v>
                  </c:pt>
                  <c:pt idx="23">
                    <c:v>05-Feb</c:v>
                  </c:pt>
                  <c:pt idx="24">
                    <c:v>06-Feb</c:v>
                  </c:pt>
                  <c:pt idx="25">
                    <c:v>07-Feb</c:v>
                  </c:pt>
                  <c:pt idx="26">
                    <c:v>10-Feb</c:v>
                  </c:pt>
                  <c:pt idx="27">
                    <c:v>11-Feb</c:v>
                  </c:pt>
                  <c:pt idx="28">
                    <c:v>12-Feb</c:v>
                  </c:pt>
                  <c:pt idx="29">
                    <c:v>13-Feb</c:v>
                  </c:pt>
                  <c:pt idx="30">
                    <c:v>14-Feb</c:v>
                  </c:pt>
                  <c:pt idx="31">
                    <c:v>17-Feb</c:v>
                  </c:pt>
                  <c:pt idx="32">
                    <c:v>18-Feb</c:v>
                  </c:pt>
                  <c:pt idx="33">
                    <c:v>19-Feb</c:v>
                  </c:pt>
                  <c:pt idx="34">
                    <c:v>20-Feb</c:v>
                  </c:pt>
                  <c:pt idx="35">
                    <c:v>21-Feb</c:v>
                  </c:pt>
                  <c:pt idx="36">
                    <c:v>24-Feb</c:v>
                  </c:pt>
                  <c:pt idx="37">
                    <c:v>25-Feb</c:v>
                  </c:pt>
                  <c:pt idx="38">
                    <c:v>26-Feb</c:v>
                  </c:pt>
                  <c:pt idx="39">
                    <c:v>27-Feb</c:v>
                  </c:pt>
                  <c:pt idx="40">
                    <c:v>28-Feb</c:v>
                  </c:pt>
                  <c:pt idx="41">
                    <c:v>29-Feb</c:v>
                  </c:pt>
                  <c:pt idx="42">
                    <c:v>02-Mar</c:v>
                  </c:pt>
                  <c:pt idx="43">
                    <c:v>03-Mar</c:v>
                  </c:pt>
                  <c:pt idx="44">
                    <c:v>04-Mar</c:v>
                  </c:pt>
                  <c:pt idx="45">
                    <c:v>05-Mar</c:v>
                  </c:pt>
                  <c:pt idx="46">
                    <c:v>06-Mar</c:v>
                  </c:pt>
                  <c:pt idx="47">
                    <c:v>07-Mar</c:v>
                  </c:pt>
                  <c:pt idx="48">
                    <c:v>09-Mar</c:v>
                  </c:pt>
                  <c:pt idx="49">
                    <c:v>10-Mar</c:v>
                  </c:pt>
                  <c:pt idx="50">
                    <c:v>11-Mar</c:v>
                  </c:pt>
                  <c:pt idx="51">
                    <c:v>12-Mar</c:v>
                  </c:pt>
                  <c:pt idx="52">
                    <c:v>13-Mar</c:v>
                  </c:pt>
                  <c:pt idx="53">
                    <c:v>14-Mar</c:v>
                  </c:pt>
                  <c:pt idx="54">
                    <c:v>16-Mar</c:v>
                  </c:pt>
                  <c:pt idx="55">
                    <c:v>17-Mar</c:v>
                  </c:pt>
                  <c:pt idx="56">
                    <c:v>18-Mar</c:v>
                  </c:pt>
                  <c:pt idx="57">
                    <c:v>19-Mar</c:v>
                  </c:pt>
                  <c:pt idx="58">
                    <c:v>20-Mar</c:v>
                  </c:pt>
                  <c:pt idx="59">
                    <c:v>21-Mar</c:v>
                  </c:pt>
                  <c:pt idx="60">
                    <c:v>23-Mar</c:v>
                  </c:pt>
                  <c:pt idx="61">
                    <c:v>24-Mar</c:v>
                  </c:pt>
                  <c:pt idx="62">
                    <c:v>25-Mar</c:v>
                  </c:pt>
                  <c:pt idx="63">
                    <c:v>26-Mar</c:v>
                  </c:pt>
                  <c:pt idx="64">
                    <c:v>27-Mar</c:v>
                  </c:pt>
                  <c:pt idx="65">
                    <c:v>28-Mar</c:v>
                  </c:pt>
                  <c:pt idx="66">
                    <c:v>30-Mar</c:v>
                  </c:pt>
                  <c:pt idx="67">
                    <c:v>31-Mar</c:v>
                  </c:pt>
                  <c:pt idx="68">
                    <c:v>01-Apr</c:v>
                  </c:pt>
                  <c:pt idx="69">
                    <c:v>02-Apr</c:v>
                  </c:pt>
                  <c:pt idx="70">
                    <c:v>03-Apr</c:v>
                  </c:pt>
                  <c:pt idx="71">
                    <c:v>04-Apr</c:v>
                  </c:pt>
                  <c:pt idx="72">
                    <c:v>06-Apr</c:v>
                  </c:pt>
                  <c:pt idx="73">
                    <c:v>07-Apr</c:v>
                  </c:pt>
                  <c:pt idx="74">
                    <c:v>08-Apr</c:v>
                  </c:pt>
                  <c:pt idx="75">
                    <c:v>09-Apr</c:v>
                  </c:pt>
                  <c:pt idx="76">
                    <c:v>10-Apr</c:v>
                  </c:pt>
                  <c:pt idx="77">
                    <c:v>13-Apr</c:v>
                  </c:pt>
                  <c:pt idx="78">
                    <c:v>14-Apr</c:v>
                  </c:pt>
                  <c:pt idx="79">
                    <c:v>15-Apr</c:v>
                  </c:pt>
                  <c:pt idx="80">
                    <c:v>16-Apr</c:v>
                  </c:pt>
                  <c:pt idx="81">
                    <c:v>17-Apr</c:v>
                  </c:pt>
                  <c:pt idx="82">
                    <c:v>18-Apr</c:v>
                  </c:pt>
                  <c:pt idx="83">
                    <c:v>20-Apr</c:v>
                  </c:pt>
                  <c:pt idx="84">
                    <c:v>21-Apr</c:v>
                  </c:pt>
                  <c:pt idx="85">
                    <c:v>22-Apr</c:v>
                  </c:pt>
                  <c:pt idx="86">
                    <c:v>23-Apr</c:v>
                  </c:pt>
                  <c:pt idx="87">
                    <c:v>24-Apr</c:v>
                  </c:pt>
                  <c:pt idx="88">
                    <c:v>27-Apr</c:v>
                  </c:pt>
                  <c:pt idx="89">
                    <c:v>28-Apr</c:v>
                  </c:pt>
                  <c:pt idx="90">
                    <c:v>29-Apr</c:v>
                  </c:pt>
                  <c:pt idx="91">
                    <c:v>30-Apr</c:v>
                  </c:pt>
                  <c:pt idx="92">
                    <c:v>04-May</c:v>
                  </c:pt>
                  <c:pt idx="93">
                    <c:v>05-May</c:v>
                  </c:pt>
                  <c:pt idx="94">
                    <c:v>06-May</c:v>
                  </c:pt>
                  <c:pt idx="95">
                    <c:v>08-May</c:v>
                  </c:pt>
                  <c:pt idx="96">
                    <c:v>12-May</c:v>
                  </c:pt>
                  <c:pt idx="97">
                    <c:v>13-May</c:v>
                  </c:pt>
                  <c:pt idx="98">
                    <c:v>14-May</c:v>
                  </c:pt>
                  <c:pt idx="99">
                    <c:v>15-May</c:v>
                  </c:pt>
                  <c:pt idx="100">
                    <c:v>16-May</c:v>
                  </c:pt>
                  <c:pt idx="101">
                    <c:v>17-May</c:v>
                  </c:pt>
                  <c:pt idx="102">
                    <c:v>18-May</c:v>
                  </c:pt>
                  <c:pt idx="103">
                    <c:v>19-May</c:v>
                  </c:pt>
                  <c:pt idx="104">
                    <c:v>20-May</c:v>
                  </c:pt>
                  <c:pt idx="105">
                    <c:v>21-May</c:v>
                  </c:pt>
                  <c:pt idx="106">
                    <c:v>22-May</c:v>
                  </c:pt>
                  <c:pt idx="107">
                    <c:v>23-May</c:v>
                  </c:pt>
                  <c:pt idx="108">
                    <c:v>26-May</c:v>
                  </c:pt>
                  <c:pt idx="109">
                    <c:v>27-May</c:v>
                  </c:pt>
                  <c:pt idx="110">
                    <c:v>28-May</c:v>
                  </c:pt>
                  <c:pt idx="111">
                    <c:v>29-May</c:v>
                  </c:pt>
                  <c:pt idx="112">
                    <c:v>30-May</c:v>
                  </c:pt>
                  <c:pt idx="113">
                    <c:v>01-Jun</c:v>
                  </c:pt>
                  <c:pt idx="114">
                    <c:v>02-Jun</c:v>
                  </c:pt>
                  <c:pt idx="115">
                    <c:v>03-Jun</c:v>
                  </c:pt>
                  <c:pt idx="116">
                    <c:v>04-Jun</c:v>
                  </c:pt>
                  <c:pt idx="117">
                    <c:v>05-Jun</c:v>
                  </c:pt>
                  <c:pt idx="118">
                    <c:v>06-Jun</c:v>
                  </c:pt>
                  <c:pt idx="119">
                    <c:v>09-Jun</c:v>
                  </c:pt>
                  <c:pt idx="120">
                    <c:v>10-Jun</c:v>
                  </c:pt>
                  <c:pt idx="121">
                    <c:v>11-Jun</c:v>
                  </c:pt>
                  <c:pt idx="122">
                    <c:v>12-Jun</c:v>
                  </c:pt>
                  <c:pt idx="123">
                    <c:v>13-Jun</c:v>
                  </c:pt>
                  <c:pt idx="124">
                    <c:v>15-Jun</c:v>
                  </c:pt>
                  <c:pt idx="125">
                    <c:v>16-Jun</c:v>
                  </c:pt>
                  <c:pt idx="126">
                    <c:v>17-Jun</c:v>
                  </c:pt>
                  <c:pt idx="127">
                    <c:v>18-Jun</c:v>
                  </c:pt>
                  <c:pt idx="128">
                    <c:v>19-Jun</c:v>
                  </c:pt>
                  <c:pt idx="129">
                    <c:v>20-Jun</c:v>
                  </c:pt>
                  <c:pt idx="130">
                    <c:v>22-Jun</c:v>
                  </c:pt>
                  <c:pt idx="131">
                    <c:v>23-Jun</c:v>
                  </c:pt>
                  <c:pt idx="132">
                    <c:v>24-Jun</c:v>
                  </c:pt>
                  <c:pt idx="133">
                    <c:v>25-Jun</c:v>
                  </c:pt>
                  <c:pt idx="134">
                    <c:v>26-Jun</c:v>
                  </c:pt>
                  <c:pt idx="135">
                    <c:v>27-Jun</c:v>
                  </c:pt>
                  <c:pt idx="136">
                    <c:v>28-Jun</c:v>
                  </c:pt>
                  <c:pt idx="137">
                    <c:v>29-Jun</c:v>
                  </c:pt>
                </c:lvl>
                <c:lvl>
                  <c:pt idx="0">
                    <c:v>Jan</c:v>
                  </c:pt>
                  <c:pt idx="21">
                    <c:v>Feb</c:v>
                  </c:pt>
                  <c:pt idx="42">
                    <c:v>Mar</c:v>
                  </c:pt>
                  <c:pt idx="68">
                    <c:v>Apr</c:v>
                  </c:pt>
                  <c:pt idx="92">
                    <c:v>May</c:v>
                  </c:pt>
                  <c:pt idx="113">
                    <c:v>Jun</c:v>
                  </c:pt>
                </c:lvl>
              </c:multiLvlStrCache>
            </c:multiLvlStrRef>
          </c:cat>
          <c:val>
            <c:numRef>
              <c:f>Sheet3!$H$4:$H$148</c:f>
              <c:numCache>
                <c:formatCode>General</c:formatCode>
                <c:ptCount val="138"/>
                <c:pt idx="2" formatCode="&quot;RM&quot;#,##0.00">
                  <c:v>3528</c:v>
                </c:pt>
                <c:pt idx="3" formatCode="&quot;RM&quot;#,##0.00">
                  <c:v>1186</c:v>
                </c:pt>
                <c:pt idx="6" formatCode="&quot;RM&quot;#,##0.00">
                  <c:v>1012</c:v>
                </c:pt>
                <c:pt idx="7" formatCode="&quot;RM&quot;#,##0.00">
                  <c:v>1812</c:v>
                </c:pt>
                <c:pt idx="9" formatCode="&quot;RM&quot;#,##0.00">
                  <c:v>941</c:v>
                </c:pt>
                <c:pt idx="10" formatCode="&quot;RM&quot;#,##0.00">
                  <c:v>958</c:v>
                </c:pt>
                <c:pt idx="11" formatCode="&quot;RM&quot;#,##0.00">
                  <c:v>4618</c:v>
                </c:pt>
                <c:pt idx="12" formatCode="&quot;RM&quot;#,##0.00">
                  <c:v>2253</c:v>
                </c:pt>
                <c:pt idx="13" formatCode="&quot;RM&quot;#,##0.00">
                  <c:v>1999</c:v>
                </c:pt>
                <c:pt idx="15" formatCode="&quot;RM&quot;#,##0.00">
                  <c:v>591</c:v>
                </c:pt>
                <c:pt idx="16" formatCode="&quot;RM&quot;#,##0.00">
                  <c:v>7516</c:v>
                </c:pt>
                <c:pt idx="17" formatCode="&quot;RM&quot;#,##0.00">
                  <c:v>2861</c:v>
                </c:pt>
                <c:pt idx="18" formatCode="&quot;RM&quot;#,##0.00">
                  <c:v>863</c:v>
                </c:pt>
                <c:pt idx="20" formatCode="&quot;RM&quot;#,##0.00">
                  <c:v>2992</c:v>
                </c:pt>
                <c:pt idx="23" formatCode="&quot;RM&quot;#,##0.00">
                  <c:v>1216</c:v>
                </c:pt>
                <c:pt idx="24" formatCode="&quot;RM&quot;#,##0.00">
                  <c:v>2521</c:v>
                </c:pt>
                <c:pt idx="25" formatCode="&quot;RM&quot;#,##0.00">
                  <c:v>1744</c:v>
                </c:pt>
                <c:pt idx="27" formatCode="&quot;RM&quot;#,##0.00">
                  <c:v>1305</c:v>
                </c:pt>
                <c:pt idx="28" formatCode="&quot;RM&quot;#,##0.00">
                  <c:v>2529</c:v>
                </c:pt>
                <c:pt idx="29" formatCode="&quot;RM&quot;#,##0.00">
                  <c:v>4623</c:v>
                </c:pt>
                <c:pt idx="31" formatCode="&quot;RM&quot;#,##0.00">
                  <c:v>2638</c:v>
                </c:pt>
                <c:pt idx="33" formatCode="&quot;RM&quot;#,##0.00">
                  <c:v>2043</c:v>
                </c:pt>
                <c:pt idx="34" formatCode="&quot;RM&quot;#,##0.00">
                  <c:v>805</c:v>
                </c:pt>
                <c:pt idx="35" formatCode="&quot;RM&quot;#,##0.00">
                  <c:v>5618</c:v>
                </c:pt>
                <c:pt idx="36" formatCode="&quot;RM&quot;#,##0.00">
                  <c:v>5914</c:v>
                </c:pt>
                <c:pt idx="37" formatCode="&quot;RM&quot;#,##0.00">
                  <c:v>4807</c:v>
                </c:pt>
                <c:pt idx="38" formatCode="&quot;RM&quot;#,##0.00">
                  <c:v>4647</c:v>
                </c:pt>
                <c:pt idx="39" formatCode="&quot;RM&quot;#,##0.00">
                  <c:v>3386</c:v>
                </c:pt>
                <c:pt idx="43" formatCode="&quot;RM&quot;#,##0.00">
                  <c:v>3037</c:v>
                </c:pt>
                <c:pt idx="44" formatCode="&quot;RM&quot;#,##0.00">
                  <c:v>3326</c:v>
                </c:pt>
                <c:pt idx="45" formatCode="&quot;RM&quot;#,##0.00">
                  <c:v>5480</c:v>
                </c:pt>
                <c:pt idx="46" formatCode="&quot;RM&quot;#,##0.00">
                  <c:v>3567</c:v>
                </c:pt>
                <c:pt idx="48" formatCode="&quot;RM&quot;#,##0.00">
                  <c:v>5011</c:v>
                </c:pt>
                <c:pt idx="49" formatCode="&quot;RM&quot;#,##0.00">
                  <c:v>2372</c:v>
                </c:pt>
                <c:pt idx="50" formatCode="&quot;RM&quot;#,##0.00">
                  <c:v>2356</c:v>
                </c:pt>
                <c:pt idx="51" formatCode="&quot;RM&quot;#,##0.00">
                  <c:v>1912</c:v>
                </c:pt>
                <c:pt idx="52" formatCode="&quot;RM&quot;#,##0.00">
                  <c:v>2156</c:v>
                </c:pt>
                <c:pt idx="53" formatCode="&quot;RM&quot;#,##0.00">
                  <c:v>2900</c:v>
                </c:pt>
                <c:pt idx="54" formatCode="&quot;RM&quot;#,##0.00">
                  <c:v>1991</c:v>
                </c:pt>
                <c:pt idx="55" formatCode="&quot;RM&quot;#,##0.00">
                  <c:v>3296</c:v>
                </c:pt>
                <c:pt idx="57" formatCode="&quot;RM&quot;#,##0.00">
                  <c:v>2154</c:v>
                </c:pt>
                <c:pt idx="58" formatCode="&quot;RM&quot;#,##0.00">
                  <c:v>703</c:v>
                </c:pt>
                <c:pt idx="62" formatCode="&quot;RM&quot;#,##0.00">
                  <c:v>1774</c:v>
                </c:pt>
                <c:pt idx="67" formatCode="&quot;RM&quot;#,##0.00">
                  <c:v>1406</c:v>
                </c:pt>
                <c:pt idx="68" formatCode="&quot;RM&quot;#,##0.00">
                  <c:v>926</c:v>
                </c:pt>
                <c:pt idx="70" formatCode="&quot;RM&quot;#,##0.00">
                  <c:v>2605</c:v>
                </c:pt>
                <c:pt idx="72" formatCode="&quot;RM&quot;#,##0.00">
                  <c:v>1717</c:v>
                </c:pt>
                <c:pt idx="75" formatCode="&quot;RM&quot;#,##0.00">
                  <c:v>384</c:v>
                </c:pt>
                <c:pt idx="86" formatCode="&quot;RM&quot;#,##0.00">
                  <c:v>937</c:v>
                </c:pt>
                <c:pt idx="90" formatCode="&quot;RM&quot;#,##0.00">
                  <c:v>1240</c:v>
                </c:pt>
                <c:pt idx="91" formatCode="&quot;RM&quot;#,##0.00">
                  <c:v>4586</c:v>
                </c:pt>
                <c:pt idx="94" formatCode="&quot;RM&quot;#,##0.00">
                  <c:v>5857</c:v>
                </c:pt>
                <c:pt idx="95" formatCode="&quot;RM&quot;#,##0.00">
                  <c:v>2152</c:v>
                </c:pt>
                <c:pt idx="96" formatCode="&quot;RM&quot;#,##0.00">
                  <c:v>2800</c:v>
                </c:pt>
                <c:pt idx="99" formatCode="&quot;RM&quot;#,##0.00">
                  <c:v>4844</c:v>
                </c:pt>
                <c:pt idx="103" formatCode="&quot;RM&quot;#,##0.00">
                  <c:v>4080</c:v>
                </c:pt>
                <c:pt idx="104" formatCode="&quot;RM&quot;#,##0.00">
                  <c:v>2773</c:v>
                </c:pt>
                <c:pt idx="105" formatCode="&quot;RM&quot;#,##0.00">
                  <c:v>747</c:v>
                </c:pt>
                <c:pt idx="106" formatCode="&quot;RM&quot;#,##0.00">
                  <c:v>1227</c:v>
                </c:pt>
                <c:pt idx="111" formatCode="&quot;RM&quot;#,##0.00">
                  <c:v>7622</c:v>
                </c:pt>
                <c:pt idx="112" formatCode="&quot;RM&quot;#,##0.00">
                  <c:v>976</c:v>
                </c:pt>
                <c:pt idx="113" formatCode="&quot;RM&quot;#,##0.00">
                  <c:v>1173</c:v>
                </c:pt>
                <c:pt idx="115" formatCode="&quot;RM&quot;#,##0.00">
                  <c:v>886</c:v>
                </c:pt>
                <c:pt idx="116" formatCode="&quot;RM&quot;#,##0.00">
                  <c:v>1679</c:v>
                </c:pt>
                <c:pt idx="117" formatCode="&quot;RM&quot;#,##0.00">
                  <c:v>1070</c:v>
                </c:pt>
                <c:pt idx="120" formatCode="&quot;RM&quot;#,##0.00">
                  <c:v>2802</c:v>
                </c:pt>
                <c:pt idx="121" formatCode="&quot;RM&quot;#,##0.00">
                  <c:v>2182</c:v>
                </c:pt>
                <c:pt idx="122" formatCode="&quot;RM&quot;#,##0.00">
                  <c:v>3243</c:v>
                </c:pt>
                <c:pt idx="124" formatCode="&quot;RM&quot;#,##0.00">
                  <c:v>6369</c:v>
                </c:pt>
                <c:pt idx="126" formatCode="&quot;RM&quot;#,##0.00">
                  <c:v>4043</c:v>
                </c:pt>
                <c:pt idx="127" formatCode="&quot;RM&quot;#,##0.00">
                  <c:v>5609</c:v>
                </c:pt>
                <c:pt idx="130" formatCode="&quot;RM&quot;#,##0.00">
                  <c:v>7506</c:v>
                </c:pt>
                <c:pt idx="131" formatCode="&quot;RM&quot;#,##0.00">
                  <c:v>3949</c:v>
                </c:pt>
                <c:pt idx="132" formatCode="&quot;RM&quot;#,##0.00">
                  <c:v>983</c:v>
                </c:pt>
                <c:pt idx="133" formatCode="&quot;RM&quot;#,##0.00">
                  <c:v>6481</c:v>
                </c:pt>
                <c:pt idx="134" formatCode="&quot;RM&quot;#,##0.00">
                  <c:v>1524</c:v>
                </c:pt>
                <c:pt idx="135" formatCode="&quot;RM&quot;#,##0.00">
                  <c:v>282</c:v>
                </c:pt>
                <c:pt idx="136" formatCode="&quot;RM&quot;#,##0.00">
                  <c:v>1129</c:v>
                </c:pt>
                <c:pt idx="137" formatCode="&quot;RM&quot;#,##0.00">
                  <c:v>1567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C76-48F4-B79D-88122B1DD2AB}"/>
            </c:ext>
          </c:extLst>
        </c:ser>
        <c:ser>
          <c:idx val="3"/>
          <c:order val="3"/>
          <c:tx>
            <c:strRef>
              <c:f>Sheet3!$I$2:$I$3</c:f>
              <c:strCache>
                <c:ptCount val="1"/>
                <c:pt idx="0">
                  <c:v>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Sheet3!$E$4:$E$148</c:f>
              <c:multiLvlStrCache>
                <c:ptCount val="138"/>
                <c:lvl>
                  <c:pt idx="0">
                    <c:v>02-Jan</c:v>
                  </c:pt>
                  <c:pt idx="1">
                    <c:v>03-Jan</c:v>
                  </c:pt>
                  <c:pt idx="2">
                    <c:v>06-Jan</c:v>
                  </c:pt>
                  <c:pt idx="3">
                    <c:v>07-Jan</c:v>
                  </c:pt>
                  <c:pt idx="4">
                    <c:v>08-Jan</c:v>
                  </c:pt>
                  <c:pt idx="5">
                    <c:v>09-Jan</c:v>
                  </c:pt>
                  <c:pt idx="6">
                    <c:v>10-Jan</c:v>
                  </c:pt>
                  <c:pt idx="7">
                    <c:v>13-Jan</c:v>
                  </c:pt>
                  <c:pt idx="8">
                    <c:v>14-Jan</c:v>
                  </c:pt>
                  <c:pt idx="9">
                    <c:v>15-Jan</c:v>
                  </c:pt>
                  <c:pt idx="10">
                    <c:v>16-Jan</c:v>
                  </c:pt>
                  <c:pt idx="11">
                    <c:v>17-Jan</c:v>
                  </c:pt>
                  <c:pt idx="12">
                    <c:v>20-Jan</c:v>
                  </c:pt>
                  <c:pt idx="13">
                    <c:v>21-Jan</c:v>
                  </c:pt>
                  <c:pt idx="14">
                    <c:v>22-Jan</c:v>
                  </c:pt>
                  <c:pt idx="15">
                    <c:v>23-Jan</c:v>
                  </c:pt>
                  <c:pt idx="16">
                    <c:v>24-Jan</c:v>
                  </c:pt>
                  <c:pt idx="17">
                    <c:v>28-Jan</c:v>
                  </c:pt>
                  <c:pt idx="18">
                    <c:v>29-Jan</c:v>
                  </c:pt>
                  <c:pt idx="19">
                    <c:v>30-Jan</c:v>
                  </c:pt>
                  <c:pt idx="20">
                    <c:v>31-Jan</c:v>
                  </c:pt>
                  <c:pt idx="21">
                    <c:v>03-Feb</c:v>
                  </c:pt>
                  <c:pt idx="22">
                    <c:v>04-Feb</c:v>
                  </c:pt>
                  <c:pt idx="23">
                    <c:v>05-Feb</c:v>
                  </c:pt>
                  <c:pt idx="24">
                    <c:v>06-Feb</c:v>
                  </c:pt>
                  <c:pt idx="25">
                    <c:v>07-Feb</c:v>
                  </c:pt>
                  <c:pt idx="26">
                    <c:v>10-Feb</c:v>
                  </c:pt>
                  <c:pt idx="27">
                    <c:v>11-Feb</c:v>
                  </c:pt>
                  <c:pt idx="28">
                    <c:v>12-Feb</c:v>
                  </c:pt>
                  <c:pt idx="29">
                    <c:v>13-Feb</c:v>
                  </c:pt>
                  <c:pt idx="30">
                    <c:v>14-Feb</c:v>
                  </c:pt>
                  <c:pt idx="31">
                    <c:v>17-Feb</c:v>
                  </c:pt>
                  <c:pt idx="32">
                    <c:v>18-Feb</c:v>
                  </c:pt>
                  <c:pt idx="33">
                    <c:v>19-Feb</c:v>
                  </c:pt>
                  <c:pt idx="34">
                    <c:v>20-Feb</c:v>
                  </c:pt>
                  <c:pt idx="35">
                    <c:v>21-Feb</c:v>
                  </c:pt>
                  <c:pt idx="36">
                    <c:v>24-Feb</c:v>
                  </c:pt>
                  <c:pt idx="37">
                    <c:v>25-Feb</c:v>
                  </c:pt>
                  <c:pt idx="38">
                    <c:v>26-Feb</c:v>
                  </c:pt>
                  <c:pt idx="39">
                    <c:v>27-Feb</c:v>
                  </c:pt>
                  <c:pt idx="40">
                    <c:v>28-Feb</c:v>
                  </c:pt>
                  <c:pt idx="41">
                    <c:v>29-Feb</c:v>
                  </c:pt>
                  <c:pt idx="42">
                    <c:v>02-Mar</c:v>
                  </c:pt>
                  <c:pt idx="43">
                    <c:v>03-Mar</c:v>
                  </c:pt>
                  <c:pt idx="44">
                    <c:v>04-Mar</c:v>
                  </c:pt>
                  <c:pt idx="45">
                    <c:v>05-Mar</c:v>
                  </c:pt>
                  <c:pt idx="46">
                    <c:v>06-Mar</c:v>
                  </c:pt>
                  <c:pt idx="47">
                    <c:v>07-Mar</c:v>
                  </c:pt>
                  <c:pt idx="48">
                    <c:v>09-Mar</c:v>
                  </c:pt>
                  <c:pt idx="49">
                    <c:v>10-Mar</c:v>
                  </c:pt>
                  <c:pt idx="50">
                    <c:v>11-Mar</c:v>
                  </c:pt>
                  <c:pt idx="51">
                    <c:v>12-Mar</c:v>
                  </c:pt>
                  <c:pt idx="52">
                    <c:v>13-Mar</c:v>
                  </c:pt>
                  <c:pt idx="53">
                    <c:v>14-Mar</c:v>
                  </c:pt>
                  <c:pt idx="54">
                    <c:v>16-Mar</c:v>
                  </c:pt>
                  <c:pt idx="55">
                    <c:v>17-Mar</c:v>
                  </c:pt>
                  <c:pt idx="56">
                    <c:v>18-Mar</c:v>
                  </c:pt>
                  <c:pt idx="57">
                    <c:v>19-Mar</c:v>
                  </c:pt>
                  <c:pt idx="58">
                    <c:v>20-Mar</c:v>
                  </c:pt>
                  <c:pt idx="59">
                    <c:v>21-Mar</c:v>
                  </c:pt>
                  <c:pt idx="60">
                    <c:v>23-Mar</c:v>
                  </c:pt>
                  <c:pt idx="61">
                    <c:v>24-Mar</c:v>
                  </c:pt>
                  <c:pt idx="62">
                    <c:v>25-Mar</c:v>
                  </c:pt>
                  <c:pt idx="63">
                    <c:v>26-Mar</c:v>
                  </c:pt>
                  <c:pt idx="64">
                    <c:v>27-Mar</c:v>
                  </c:pt>
                  <c:pt idx="65">
                    <c:v>28-Mar</c:v>
                  </c:pt>
                  <c:pt idx="66">
                    <c:v>30-Mar</c:v>
                  </c:pt>
                  <c:pt idx="67">
                    <c:v>31-Mar</c:v>
                  </c:pt>
                  <c:pt idx="68">
                    <c:v>01-Apr</c:v>
                  </c:pt>
                  <c:pt idx="69">
                    <c:v>02-Apr</c:v>
                  </c:pt>
                  <c:pt idx="70">
                    <c:v>03-Apr</c:v>
                  </c:pt>
                  <c:pt idx="71">
                    <c:v>04-Apr</c:v>
                  </c:pt>
                  <c:pt idx="72">
                    <c:v>06-Apr</c:v>
                  </c:pt>
                  <c:pt idx="73">
                    <c:v>07-Apr</c:v>
                  </c:pt>
                  <c:pt idx="74">
                    <c:v>08-Apr</c:v>
                  </c:pt>
                  <c:pt idx="75">
                    <c:v>09-Apr</c:v>
                  </c:pt>
                  <c:pt idx="76">
                    <c:v>10-Apr</c:v>
                  </c:pt>
                  <c:pt idx="77">
                    <c:v>13-Apr</c:v>
                  </c:pt>
                  <c:pt idx="78">
                    <c:v>14-Apr</c:v>
                  </c:pt>
                  <c:pt idx="79">
                    <c:v>15-Apr</c:v>
                  </c:pt>
                  <c:pt idx="80">
                    <c:v>16-Apr</c:v>
                  </c:pt>
                  <c:pt idx="81">
                    <c:v>17-Apr</c:v>
                  </c:pt>
                  <c:pt idx="82">
                    <c:v>18-Apr</c:v>
                  </c:pt>
                  <c:pt idx="83">
                    <c:v>20-Apr</c:v>
                  </c:pt>
                  <c:pt idx="84">
                    <c:v>21-Apr</c:v>
                  </c:pt>
                  <c:pt idx="85">
                    <c:v>22-Apr</c:v>
                  </c:pt>
                  <c:pt idx="86">
                    <c:v>23-Apr</c:v>
                  </c:pt>
                  <c:pt idx="87">
                    <c:v>24-Apr</c:v>
                  </c:pt>
                  <c:pt idx="88">
                    <c:v>27-Apr</c:v>
                  </c:pt>
                  <c:pt idx="89">
                    <c:v>28-Apr</c:v>
                  </c:pt>
                  <c:pt idx="90">
                    <c:v>29-Apr</c:v>
                  </c:pt>
                  <c:pt idx="91">
                    <c:v>30-Apr</c:v>
                  </c:pt>
                  <c:pt idx="92">
                    <c:v>04-May</c:v>
                  </c:pt>
                  <c:pt idx="93">
                    <c:v>05-May</c:v>
                  </c:pt>
                  <c:pt idx="94">
                    <c:v>06-May</c:v>
                  </c:pt>
                  <c:pt idx="95">
                    <c:v>08-May</c:v>
                  </c:pt>
                  <c:pt idx="96">
                    <c:v>12-May</c:v>
                  </c:pt>
                  <c:pt idx="97">
                    <c:v>13-May</c:v>
                  </c:pt>
                  <c:pt idx="98">
                    <c:v>14-May</c:v>
                  </c:pt>
                  <c:pt idx="99">
                    <c:v>15-May</c:v>
                  </c:pt>
                  <c:pt idx="100">
                    <c:v>16-May</c:v>
                  </c:pt>
                  <c:pt idx="101">
                    <c:v>17-May</c:v>
                  </c:pt>
                  <c:pt idx="102">
                    <c:v>18-May</c:v>
                  </c:pt>
                  <c:pt idx="103">
                    <c:v>19-May</c:v>
                  </c:pt>
                  <c:pt idx="104">
                    <c:v>20-May</c:v>
                  </c:pt>
                  <c:pt idx="105">
                    <c:v>21-May</c:v>
                  </c:pt>
                  <c:pt idx="106">
                    <c:v>22-May</c:v>
                  </c:pt>
                  <c:pt idx="107">
                    <c:v>23-May</c:v>
                  </c:pt>
                  <c:pt idx="108">
                    <c:v>26-May</c:v>
                  </c:pt>
                  <c:pt idx="109">
                    <c:v>27-May</c:v>
                  </c:pt>
                  <c:pt idx="110">
                    <c:v>28-May</c:v>
                  </c:pt>
                  <c:pt idx="111">
                    <c:v>29-May</c:v>
                  </c:pt>
                  <c:pt idx="112">
                    <c:v>30-May</c:v>
                  </c:pt>
                  <c:pt idx="113">
                    <c:v>01-Jun</c:v>
                  </c:pt>
                  <c:pt idx="114">
                    <c:v>02-Jun</c:v>
                  </c:pt>
                  <c:pt idx="115">
                    <c:v>03-Jun</c:v>
                  </c:pt>
                  <c:pt idx="116">
                    <c:v>04-Jun</c:v>
                  </c:pt>
                  <c:pt idx="117">
                    <c:v>05-Jun</c:v>
                  </c:pt>
                  <c:pt idx="118">
                    <c:v>06-Jun</c:v>
                  </c:pt>
                  <c:pt idx="119">
                    <c:v>09-Jun</c:v>
                  </c:pt>
                  <c:pt idx="120">
                    <c:v>10-Jun</c:v>
                  </c:pt>
                  <c:pt idx="121">
                    <c:v>11-Jun</c:v>
                  </c:pt>
                  <c:pt idx="122">
                    <c:v>12-Jun</c:v>
                  </c:pt>
                  <c:pt idx="123">
                    <c:v>13-Jun</c:v>
                  </c:pt>
                  <c:pt idx="124">
                    <c:v>15-Jun</c:v>
                  </c:pt>
                  <c:pt idx="125">
                    <c:v>16-Jun</c:v>
                  </c:pt>
                  <c:pt idx="126">
                    <c:v>17-Jun</c:v>
                  </c:pt>
                  <c:pt idx="127">
                    <c:v>18-Jun</c:v>
                  </c:pt>
                  <c:pt idx="128">
                    <c:v>19-Jun</c:v>
                  </c:pt>
                  <c:pt idx="129">
                    <c:v>20-Jun</c:v>
                  </c:pt>
                  <c:pt idx="130">
                    <c:v>22-Jun</c:v>
                  </c:pt>
                  <c:pt idx="131">
                    <c:v>23-Jun</c:v>
                  </c:pt>
                  <c:pt idx="132">
                    <c:v>24-Jun</c:v>
                  </c:pt>
                  <c:pt idx="133">
                    <c:v>25-Jun</c:v>
                  </c:pt>
                  <c:pt idx="134">
                    <c:v>26-Jun</c:v>
                  </c:pt>
                  <c:pt idx="135">
                    <c:v>27-Jun</c:v>
                  </c:pt>
                  <c:pt idx="136">
                    <c:v>28-Jun</c:v>
                  </c:pt>
                  <c:pt idx="137">
                    <c:v>29-Jun</c:v>
                  </c:pt>
                </c:lvl>
                <c:lvl>
                  <c:pt idx="0">
                    <c:v>Jan</c:v>
                  </c:pt>
                  <c:pt idx="21">
                    <c:v>Feb</c:v>
                  </c:pt>
                  <c:pt idx="42">
                    <c:v>Mar</c:v>
                  </c:pt>
                  <c:pt idx="68">
                    <c:v>Apr</c:v>
                  </c:pt>
                  <c:pt idx="92">
                    <c:v>May</c:v>
                  </c:pt>
                  <c:pt idx="113">
                    <c:v>Jun</c:v>
                  </c:pt>
                </c:lvl>
              </c:multiLvlStrCache>
            </c:multiLvlStrRef>
          </c:cat>
          <c:val>
            <c:numRef>
              <c:f>Sheet3!$I$4:$I$148</c:f>
              <c:numCache>
                <c:formatCode>"RM"#,##0.00</c:formatCode>
                <c:ptCount val="138"/>
                <c:pt idx="0">
                  <c:v>316324</c:v>
                </c:pt>
                <c:pt idx="1">
                  <c:v>329499</c:v>
                </c:pt>
                <c:pt idx="2">
                  <c:v>146470</c:v>
                </c:pt>
                <c:pt idx="3">
                  <c:v>330274</c:v>
                </c:pt>
                <c:pt idx="4">
                  <c:v>87212</c:v>
                </c:pt>
                <c:pt idx="5">
                  <c:v>203014</c:v>
                </c:pt>
                <c:pt idx="6">
                  <c:v>161458</c:v>
                </c:pt>
                <c:pt idx="7">
                  <c:v>139782</c:v>
                </c:pt>
                <c:pt idx="8">
                  <c:v>293178</c:v>
                </c:pt>
                <c:pt idx="9">
                  <c:v>276831</c:v>
                </c:pt>
                <c:pt idx="10">
                  <c:v>107991</c:v>
                </c:pt>
                <c:pt idx="11">
                  <c:v>257918</c:v>
                </c:pt>
                <c:pt idx="12">
                  <c:v>303700</c:v>
                </c:pt>
                <c:pt idx="13">
                  <c:v>285051</c:v>
                </c:pt>
                <c:pt idx="14">
                  <c:v>322397</c:v>
                </c:pt>
                <c:pt idx="15">
                  <c:v>243041</c:v>
                </c:pt>
                <c:pt idx="16">
                  <c:v>132298</c:v>
                </c:pt>
                <c:pt idx="17">
                  <c:v>161068</c:v>
                </c:pt>
                <c:pt idx="18">
                  <c:v>284010</c:v>
                </c:pt>
                <c:pt idx="19">
                  <c:v>388970</c:v>
                </c:pt>
                <c:pt idx="20">
                  <c:v>465564</c:v>
                </c:pt>
                <c:pt idx="21">
                  <c:v>55193</c:v>
                </c:pt>
                <c:pt idx="22">
                  <c:v>111459</c:v>
                </c:pt>
                <c:pt idx="23">
                  <c:v>171340</c:v>
                </c:pt>
                <c:pt idx="24">
                  <c:v>178437</c:v>
                </c:pt>
                <c:pt idx="25">
                  <c:v>373408</c:v>
                </c:pt>
                <c:pt idx="26">
                  <c:v>283332</c:v>
                </c:pt>
                <c:pt idx="27">
                  <c:v>186858</c:v>
                </c:pt>
                <c:pt idx="28">
                  <c:v>344963</c:v>
                </c:pt>
                <c:pt idx="29">
                  <c:v>148099</c:v>
                </c:pt>
                <c:pt idx="30">
                  <c:v>235139</c:v>
                </c:pt>
                <c:pt idx="31">
                  <c:v>188093</c:v>
                </c:pt>
                <c:pt idx="32">
                  <c:v>204655</c:v>
                </c:pt>
                <c:pt idx="33">
                  <c:v>127414</c:v>
                </c:pt>
                <c:pt idx="34">
                  <c:v>339838</c:v>
                </c:pt>
                <c:pt idx="35">
                  <c:v>302705</c:v>
                </c:pt>
                <c:pt idx="36">
                  <c:v>214947</c:v>
                </c:pt>
                <c:pt idx="37">
                  <c:v>426171</c:v>
                </c:pt>
                <c:pt idx="38">
                  <c:v>320018</c:v>
                </c:pt>
                <c:pt idx="39">
                  <c:v>307358</c:v>
                </c:pt>
                <c:pt idx="40">
                  <c:v>486180</c:v>
                </c:pt>
                <c:pt idx="41">
                  <c:v>203661</c:v>
                </c:pt>
                <c:pt idx="42">
                  <c:v>225459</c:v>
                </c:pt>
                <c:pt idx="43">
                  <c:v>224500</c:v>
                </c:pt>
                <c:pt idx="44">
                  <c:v>274489</c:v>
                </c:pt>
                <c:pt idx="45">
                  <c:v>113468</c:v>
                </c:pt>
                <c:pt idx="46">
                  <c:v>319845</c:v>
                </c:pt>
                <c:pt idx="47">
                  <c:v>35148</c:v>
                </c:pt>
                <c:pt idx="48">
                  <c:v>167600</c:v>
                </c:pt>
                <c:pt idx="49">
                  <c:v>109075</c:v>
                </c:pt>
                <c:pt idx="50">
                  <c:v>150146</c:v>
                </c:pt>
                <c:pt idx="51">
                  <c:v>249095</c:v>
                </c:pt>
                <c:pt idx="52">
                  <c:v>159511</c:v>
                </c:pt>
                <c:pt idx="53">
                  <c:v>71098</c:v>
                </c:pt>
                <c:pt idx="54">
                  <c:v>326842</c:v>
                </c:pt>
                <c:pt idx="55">
                  <c:v>429445</c:v>
                </c:pt>
                <c:pt idx="56">
                  <c:v>204694</c:v>
                </c:pt>
                <c:pt idx="57">
                  <c:v>215031</c:v>
                </c:pt>
                <c:pt idx="58">
                  <c:v>246129</c:v>
                </c:pt>
                <c:pt idx="59">
                  <c:v>89327</c:v>
                </c:pt>
                <c:pt idx="60">
                  <c:v>129114</c:v>
                </c:pt>
                <c:pt idx="61">
                  <c:v>99964</c:v>
                </c:pt>
                <c:pt idx="62">
                  <c:v>245877</c:v>
                </c:pt>
                <c:pt idx="63">
                  <c:v>175316</c:v>
                </c:pt>
                <c:pt idx="64">
                  <c:v>120444</c:v>
                </c:pt>
                <c:pt idx="65">
                  <c:v>32904</c:v>
                </c:pt>
                <c:pt idx="66">
                  <c:v>151286</c:v>
                </c:pt>
                <c:pt idx="67">
                  <c:v>197490</c:v>
                </c:pt>
                <c:pt idx="68">
                  <c:v>37672</c:v>
                </c:pt>
                <c:pt idx="69">
                  <c:v>57615</c:v>
                </c:pt>
                <c:pt idx="70">
                  <c:v>88732</c:v>
                </c:pt>
                <c:pt idx="72">
                  <c:v>42870</c:v>
                </c:pt>
                <c:pt idx="73">
                  <c:v>66540</c:v>
                </c:pt>
                <c:pt idx="74">
                  <c:v>81418</c:v>
                </c:pt>
                <c:pt idx="75">
                  <c:v>44490</c:v>
                </c:pt>
                <c:pt idx="76">
                  <c:v>15100</c:v>
                </c:pt>
                <c:pt idx="77">
                  <c:v>38990</c:v>
                </c:pt>
                <c:pt idx="78">
                  <c:v>93553</c:v>
                </c:pt>
                <c:pt idx="79">
                  <c:v>63873</c:v>
                </c:pt>
                <c:pt idx="80">
                  <c:v>112660</c:v>
                </c:pt>
                <c:pt idx="81">
                  <c:v>54392</c:v>
                </c:pt>
                <c:pt idx="82">
                  <c:v>7079</c:v>
                </c:pt>
                <c:pt idx="83">
                  <c:v>128196</c:v>
                </c:pt>
                <c:pt idx="84">
                  <c:v>71692</c:v>
                </c:pt>
                <c:pt idx="85">
                  <c:v>44621</c:v>
                </c:pt>
                <c:pt idx="86">
                  <c:v>51574</c:v>
                </c:pt>
                <c:pt idx="87">
                  <c:v>92221</c:v>
                </c:pt>
                <c:pt idx="88">
                  <c:v>73349</c:v>
                </c:pt>
                <c:pt idx="89">
                  <c:v>95302</c:v>
                </c:pt>
                <c:pt idx="90">
                  <c:v>149816</c:v>
                </c:pt>
                <c:pt idx="91">
                  <c:v>290167</c:v>
                </c:pt>
                <c:pt idx="92">
                  <c:v>81043</c:v>
                </c:pt>
                <c:pt idx="93">
                  <c:v>67508</c:v>
                </c:pt>
                <c:pt idx="94">
                  <c:v>25767</c:v>
                </c:pt>
                <c:pt idx="95">
                  <c:v>121271</c:v>
                </c:pt>
                <c:pt idx="96">
                  <c:v>126896</c:v>
                </c:pt>
                <c:pt idx="97">
                  <c:v>106263</c:v>
                </c:pt>
                <c:pt idx="98">
                  <c:v>153712</c:v>
                </c:pt>
                <c:pt idx="99">
                  <c:v>129207</c:v>
                </c:pt>
                <c:pt idx="100">
                  <c:v>19284</c:v>
                </c:pt>
                <c:pt idx="102">
                  <c:v>253580</c:v>
                </c:pt>
                <c:pt idx="103">
                  <c:v>161448</c:v>
                </c:pt>
                <c:pt idx="104">
                  <c:v>88792</c:v>
                </c:pt>
                <c:pt idx="105">
                  <c:v>91970</c:v>
                </c:pt>
                <c:pt idx="106">
                  <c:v>184184</c:v>
                </c:pt>
                <c:pt idx="107">
                  <c:v>39324</c:v>
                </c:pt>
                <c:pt idx="108">
                  <c:v>1473</c:v>
                </c:pt>
                <c:pt idx="109">
                  <c:v>238871</c:v>
                </c:pt>
                <c:pt idx="110">
                  <c:v>372484</c:v>
                </c:pt>
                <c:pt idx="111">
                  <c:v>321874</c:v>
                </c:pt>
                <c:pt idx="112">
                  <c:v>185095</c:v>
                </c:pt>
                <c:pt idx="113">
                  <c:v>98348</c:v>
                </c:pt>
                <c:pt idx="114">
                  <c:v>155109</c:v>
                </c:pt>
                <c:pt idx="115">
                  <c:v>115268</c:v>
                </c:pt>
                <c:pt idx="116">
                  <c:v>105675</c:v>
                </c:pt>
                <c:pt idx="117">
                  <c:v>264507</c:v>
                </c:pt>
                <c:pt idx="119">
                  <c:v>232911</c:v>
                </c:pt>
                <c:pt idx="120">
                  <c:v>143006</c:v>
                </c:pt>
                <c:pt idx="121">
                  <c:v>242424</c:v>
                </c:pt>
                <c:pt idx="122">
                  <c:v>185817</c:v>
                </c:pt>
                <c:pt idx="123">
                  <c:v>97878</c:v>
                </c:pt>
                <c:pt idx="124">
                  <c:v>387415</c:v>
                </c:pt>
                <c:pt idx="125">
                  <c:v>243075</c:v>
                </c:pt>
                <c:pt idx="126">
                  <c:v>324262</c:v>
                </c:pt>
                <c:pt idx="127">
                  <c:v>368898</c:v>
                </c:pt>
                <c:pt idx="128">
                  <c:v>290481</c:v>
                </c:pt>
                <c:pt idx="129">
                  <c:v>178379</c:v>
                </c:pt>
                <c:pt idx="130">
                  <c:v>493123</c:v>
                </c:pt>
                <c:pt idx="131">
                  <c:v>550280</c:v>
                </c:pt>
                <c:pt idx="132">
                  <c:v>600453</c:v>
                </c:pt>
                <c:pt idx="133">
                  <c:v>759137</c:v>
                </c:pt>
                <c:pt idx="134">
                  <c:v>830117</c:v>
                </c:pt>
                <c:pt idx="135">
                  <c:v>383816</c:v>
                </c:pt>
                <c:pt idx="136">
                  <c:v>78814</c:v>
                </c:pt>
                <c:pt idx="137">
                  <c:v>94225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C76-48F4-B79D-88122B1DD2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1456311343"/>
        <c:axId val="1456310863"/>
      </c:barChart>
      <c:catAx>
        <c:axId val="14563113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6310863"/>
        <c:crosses val="autoZero"/>
        <c:auto val="1"/>
        <c:lblAlgn val="ctr"/>
        <c:lblOffset val="100"/>
        <c:noMultiLvlLbl val="0"/>
      </c:catAx>
      <c:valAx>
        <c:axId val="14563108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RM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6311343"/>
        <c:crosses val="autoZero"/>
        <c:crossBetween val="between"/>
        <c:majorUnit val="500000"/>
        <c:minorUnit val="100000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'Premium and Secures Losses'!$I$41</c:f>
              <c:strCache>
                <c:ptCount val="1"/>
                <c:pt idx="0">
                  <c:v>Premium Loss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722-4B58-B314-481779E401D4}"/>
              </c:ext>
            </c:extLst>
          </c:dPt>
          <c:dPt>
            <c:idx val="1"/>
            <c:bubble3D val="0"/>
            <c:spPr>
              <a:solidFill>
                <a:srgbClr val="7030A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722-4B58-B314-481779E401D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'Premium and Secures Losses'!$G$42:$G$43</c:f>
              <c:strCache>
                <c:ptCount val="2"/>
                <c:pt idx="0">
                  <c:v>E</c:v>
                </c:pt>
                <c:pt idx="1">
                  <c:v>A</c:v>
                </c:pt>
              </c:strCache>
            </c:strRef>
          </c:cat>
          <c:val>
            <c:numRef>
              <c:f>'Premium and Secures Losses'!$I$42:$I$43</c:f>
              <c:numCache>
                <c:formatCode>"RM"#,##0_);[Red]\("RM"#,##0\)</c:formatCode>
                <c:ptCount val="2"/>
                <c:pt idx="0">
                  <c:v>905026</c:v>
                </c:pt>
                <c:pt idx="1">
                  <c:v>253802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722-4B58-B314-481779E401D4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 w="19050" cap="flat" cmpd="sng" algn="ctr">
      <a:solidFill>
        <a:schemeClr val="accent1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[data_powerpoint.xlsx]Sheet1!PivotTable3</c:name>
    <c:fmtId val="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Premiums Losses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Sheet1!$H$20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multiLvlStrRef>
              <c:f>Sheet1!$G$21:$G$28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</c:lvl>
                <c:lvl>
                  <c:pt idx="0">
                    <c:v>2020</c:v>
                  </c:pt>
                </c:lvl>
              </c:multiLvlStrCache>
            </c:multiLvlStrRef>
          </c:cat>
          <c:val>
            <c:numRef>
              <c:f>Sheet1!$H$21:$H$28</c:f>
              <c:numCache>
                <c:formatCode>_("RM"* #,##0.00_);_("RM"* \(#,##0.00\);_("RM"* "-"??_);_(@_)</c:formatCode>
                <c:ptCount val="6"/>
                <c:pt idx="0">
                  <c:v>330410</c:v>
                </c:pt>
                <c:pt idx="1">
                  <c:v>214812</c:v>
                </c:pt>
                <c:pt idx="2">
                  <c:v>137364</c:v>
                </c:pt>
                <c:pt idx="3">
                  <c:v>104281</c:v>
                </c:pt>
                <c:pt idx="4">
                  <c:v>135779</c:v>
                </c:pt>
                <c:pt idx="5">
                  <c:v>236182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6C-4C2C-83DD-14A72F8268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81817471"/>
        <c:axId val="381818431"/>
      </c:barChart>
      <c:catAx>
        <c:axId val="38181747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Month,</a:t>
                </a:r>
                <a:r>
                  <a:rPr lang="en-US" baseline="0" dirty="0"/>
                  <a:t> Year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1818431"/>
        <c:crosses val="autoZero"/>
        <c:auto val="1"/>
        <c:lblAlgn val="ctr"/>
        <c:lblOffset val="100"/>
        <c:noMultiLvlLbl val="0"/>
      </c:catAx>
      <c:valAx>
        <c:axId val="381818431"/>
        <c:scaling>
          <c:orientation val="minMax"/>
        </c:scaling>
        <c:delete val="0"/>
        <c:axPos val="l"/>
        <c:numFmt formatCode="_(&quot;RM&quot;* #,##0.00_);_(&quot;RM&quot;* \(#,##0.00\);_(&quot;RM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181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 w="19050" cap="flat" cmpd="sng" algn="ctr">
      <a:solidFill>
        <a:schemeClr val="accent1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[data_powerpoint.xlsx]Imbalance Segmentation!PivotTable14</c:name>
    <c:fmtId val="12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'Imbalance Segmentation'!$F$41:$F$42</c:f>
              <c:strCache>
                <c:ptCount val="1"/>
                <c:pt idx="0">
                  <c:v>Premium High, Coverage High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'Imbalance Segmentation'!$E$43:$E$45</c:f>
              <c:strCache>
                <c:ptCount val="2"/>
                <c:pt idx="0">
                  <c:v>A</c:v>
                </c:pt>
                <c:pt idx="1">
                  <c:v>E</c:v>
                </c:pt>
              </c:strCache>
            </c:strRef>
          </c:cat>
          <c:val>
            <c:numRef>
              <c:f>'Imbalance Segmentation'!$F$43:$F$45</c:f>
              <c:numCache>
                <c:formatCode>0.00%</c:formatCode>
                <c:ptCount val="2"/>
                <c:pt idx="0">
                  <c:v>0.18679127824051819</c:v>
                </c:pt>
                <c:pt idx="1">
                  <c:v>0.45730730387856261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9B-47D4-81C3-92F1448B4BC8}"/>
            </c:ext>
          </c:extLst>
        </c:ser>
        <c:ser>
          <c:idx val="1"/>
          <c:order val="1"/>
          <c:tx>
            <c:strRef>
              <c:f>'Imbalance Segmentation'!$G$41:$G$42</c:f>
              <c:strCache>
                <c:ptCount val="1"/>
                <c:pt idx="0">
                  <c:v>Premium High, Coverage Low</c:v>
                </c:pt>
              </c:strCache>
            </c:strRef>
          </c:tx>
          <c:spPr>
            <a:solidFill>
              <a:srgbClr val="FDA9C7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'Imbalance Segmentation'!$E$43:$E$45</c:f>
              <c:strCache>
                <c:ptCount val="2"/>
                <c:pt idx="0">
                  <c:v>A</c:v>
                </c:pt>
                <c:pt idx="1">
                  <c:v>E</c:v>
                </c:pt>
              </c:strCache>
            </c:strRef>
          </c:cat>
          <c:val>
            <c:numRef>
              <c:f>'Imbalance Segmentation'!$G$43:$G$45</c:f>
              <c:numCache>
                <c:formatCode>0.00%</c:formatCode>
                <c:ptCount val="2"/>
                <c:pt idx="0">
                  <c:v>0.40168320186602152</c:v>
                </c:pt>
                <c:pt idx="1">
                  <c:v>0.32149021133094519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C9B-47D4-81C3-92F1448B4BC8}"/>
            </c:ext>
          </c:extLst>
        </c:ser>
        <c:ser>
          <c:idx val="2"/>
          <c:order val="2"/>
          <c:tx>
            <c:strRef>
              <c:f>'Imbalance Segmentation'!$H$41:$H$42</c:f>
              <c:strCache>
                <c:ptCount val="1"/>
                <c:pt idx="0">
                  <c:v>Premium Low, Coverage High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'Imbalance Segmentation'!$E$43:$E$45</c:f>
              <c:strCache>
                <c:ptCount val="2"/>
                <c:pt idx="0">
                  <c:v>A</c:v>
                </c:pt>
                <c:pt idx="1">
                  <c:v>E</c:v>
                </c:pt>
              </c:strCache>
            </c:strRef>
          </c:cat>
          <c:val>
            <c:numRef>
              <c:f>'Imbalance Segmentation'!$H$43:$H$45</c:f>
              <c:numCache>
                <c:formatCode>0.00%</c:formatCode>
                <c:ptCount val="2"/>
                <c:pt idx="0">
                  <c:v>0.22515583013530233</c:v>
                </c:pt>
                <c:pt idx="1">
                  <c:v>0.10856041704879196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C9B-47D4-81C3-92F1448B4BC8}"/>
            </c:ext>
          </c:extLst>
        </c:ser>
        <c:ser>
          <c:idx val="3"/>
          <c:order val="3"/>
          <c:tx>
            <c:strRef>
              <c:f>'Imbalance Segmentation'!$I$41:$I$42</c:f>
              <c:strCache>
                <c:ptCount val="1"/>
                <c:pt idx="0">
                  <c:v>Premium Low, Coverage Low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'Imbalance Segmentation'!$E$43:$E$45</c:f>
              <c:strCache>
                <c:ptCount val="2"/>
                <c:pt idx="0">
                  <c:v>A</c:v>
                </c:pt>
                <c:pt idx="1">
                  <c:v>E</c:v>
                </c:pt>
              </c:strCache>
            </c:strRef>
          </c:cat>
          <c:val>
            <c:numRef>
              <c:f>'Imbalance Segmentation'!$I$43:$I$45</c:f>
              <c:numCache>
                <c:formatCode>0.00%</c:formatCode>
                <c:ptCount val="2"/>
                <c:pt idx="0">
                  <c:v>0.18636968975815793</c:v>
                </c:pt>
                <c:pt idx="1">
                  <c:v>0.11264206774170024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C9B-47D4-81C3-92F1448B4BC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129051152"/>
        <c:axId val="1129051632"/>
      </c:barChart>
      <c:catAx>
        <c:axId val="1129051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9051632"/>
        <c:crosses val="autoZero"/>
        <c:auto val="1"/>
        <c:lblAlgn val="ctr"/>
        <c:lblOffset val="100"/>
        <c:noMultiLvlLbl val="0"/>
      </c:catAx>
      <c:valAx>
        <c:axId val="11290516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90511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01996-0F04-C07D-742B-44AEBA8FA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682A25-0260-3811-6B89-F91BCBCCB9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B9DC8-13B7-BD94-B6D4-BDC127511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41DF3-D250-47BC-ACC6-8C0D7ED0F29D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E2966-DB32-B553-7336-F93A7E16B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356CF-6282-C598-638B-5637F6AF4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04074-7301-4CAC-8FA8-905F78B2D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322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6830D-4F7F-63BE-8CF5-DA48C51C5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0C512-4B0F-45B1-2388-64B59F16D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E4458-B641-326A-3EC9-C2BB6B965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41DF3-D250-47BC-ACC6-8C0D7ED0F29D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428F0-851A-00EC-F79A-6C664EC43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0BB6B-CC8E-8A84-41FF-82FBCCF95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04074-7301-4CAC-8FA8-905F78B2D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219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677B5-3A60-4E52-A743-015998299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5A8043-DAB1-129B-247C-6FB968FAC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0A114-B500-07C4-F886-9AFE9C973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41DF3-D250-47BC-ACC6-8C0D7ED0F29D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B20C0-2FD1-143E-CDB0-7762FBE8B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5EC7E-0847-423A-F0BC-F2080DC2B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04074-7301-4CAC-8FA8-905F78B2D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988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747F3-9B25-B035-352E-A61FB5347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0E9EC-0F56-F562-8F36-8B3647A1C1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3465D1-76AA-2811-D8F6-9B327C14F7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C06F65-2316-DFB4-8516-0E9910597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41DF3-D250-47BC-ACC6-8C0D7ED0F29D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8255E-26AE-7A2B-352A-78784B320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B30486-C32F-6D6F-A62E-4B736D339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04074-7301-4CAC-8FA8-905F78B2D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425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3DCEC-E52A-6B23-D468-71E6D5A4E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224CB8-30A4-D76D-3B07-52D53FCBA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E47F4E-CC6A-96BD-DBDE-20725503F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D53D67-57B1-15B7-3054-9CCC71FA2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119F42-E199-56F8-9441-3814743E01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A8C8EC-1310-DF53-BB78-5BD2CE23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41DF3-D250-47BC-ACC6-8C0D7ED0F29D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D7DEEA-B91C-C069-4609-3070D5EC6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E7861B-A2EB-8580-639B-B7F11DD69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04074-7301-4CAC-8FA8-905F78B2D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49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94F34-DEA0-37AF-258A-A1AFA2955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94BB67-375C-7C52-7AA8-97B6F2F70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41DF3-D250-47BC-ACC6-8C0D7ED0F29D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BD6952-F3ED-CDA1-A760-CB559B6CA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0B77F0-63B3-85B7-E69B-00D7D1277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04074-7301-4CAC-8FA8-905F78B2D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38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550E0F-B2F4-033F-C2D8-EEBDDB111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41DF3-D250-47BC-ACC6-8C0D7ED0F29D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7F63AE-2FB8-7B94-A6FA-467965276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794B8F-4479-E9E9-5CC3-212BB5EBA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04074-7301-4CAC-8FA8-905F78B2D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019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7CFDD-FAF2-8E54-1A4E-5BAAF5E6C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E0AFF-F0D1-6F88-4E79-51EE2C8B0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812186-2471-3539-0710-D9199FD13F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A9258B-ECCD-A8F3-A647-91145F66D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41DF3-D250-47BC-ACC6-8C0D7ED0F29D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762764-E8A4-E484-88DF-A7677221F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E72C51-64D8-98BE-A024-94E1473D7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04074-7301-4CAC-8FA8-905F78B2D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020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0F226-68DB-B4DE-51B3-411D6F91C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71BA82-319B-B346-B6F9-07451E29B4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DF1097-B16D-A1A2-95B0-49B5C1A75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147C76-7D35-9B39-6E3D-F919D8E1A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41DF3-D250-47BC-ACC6-8C0D7ED0F29D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E914D1-07B2-21F0-4A7B-6EADAA985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C26AEE-68D6-7AF4-43B8-745B2597F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04074-7301-4CAC-8FA8-905F78B2D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179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91684-650C-CCC9-01A0-9EC9E7B7C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8BD5B4-F4DB-8EFC-A96A-EBF48B3FED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56EC9-83A6-36BC-F4BD-E2FF52113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41DF3-D250-47BC-ACC6-8C0D7ED0F29D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71363-917B-1230-9363-293B43442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2B4E8-75FE-6AE1-6D7A-A71227DEB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04074-7301-4CAC-8FA8-905F78B2D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255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9958B2-0E61-6F40-FB30-A3BC856AD2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70E76-6EE1-080F-0BE5-2E94BA285B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E89CB-BAA9-9EBE-CF22-196871181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41DF3-D250-47BC-ACC6-8C0D7ED0F29D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2B87A-BA43-FF7B-AAFD-F4E688F18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B6B15-E04B-182F-DE7F-11151C321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04074-7301-4CAC-8FA8-905F78B2D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923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0F776D-C603-EC40-A0CC-6C57A8952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265DF-4167-EE24-1F54-2852FAD47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B6FE8-2CDE-0D1F-0D74-57FF933319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D41DF3-D250-47BC-ACC6-8C0D7ED0F29D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3BE17-8D61-1F64-D33F-830EB26839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43A06-B65B-498D-0C97-8D03D00318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E04074-7301-4CAC-8FA8-905F78B2D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623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chart" Target="../charts/chart4.xm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11" Type="http://schemas.openxmlformats.org/officeDocument/2006/relationships/image" Target="../media/image13.sv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svg"/><Relationship Id="rId9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green triangles&#10;&#10;Description automatically generated">
            <a:extLst>
              <a:ext uri="{FF2B5EF4-FFF2-40B4-BE49-F238E27FC236}">
                <a16:creationId xmlns:a16="http://schemas.microsoft.com/office/drawing/2014/main" id="{F8002766-D2B6-3F06-5052-2C962A21DC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5045" y="1236583"/>
            <a:ext cx="4761905" cy="47619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047D30-C1C1-F6D8-A0AD-7085559B1CB0}"/>
              </a:ext>
            </a:extLst>
          </p:cNvPr>
          <p:cNvSpPr txBox="1"/>
          <p:nvPr/>
        </p:nvSpPr>
        <p:spPr>
          <a:xfrm>
            <a:off x="3570233" y="5057236"/>
            <a:ext cx="505153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Data Analytics Assignment</a:t>
            </a:r>
          </a:p>
          <a:p>
            <a:pPr algn="ctr"/>
            <a:r>
              <a:rPr lang="en-US" sz="1600" i="1" dirty="0">
                <a:solidFill>
                  <a:schemeClr val="bg1"/>
                </a:solidFill>
              </a:rPr>
              <a:t>By Qayyim Syahmi</a:t>
            </a:r>
          </a:p>
        </p:txBody>
      </p:sp>
    </p:spTree>
    <p:extLst>
      <p:ext uri="{BB962C8B-B14F-4D97-AF65-F5344CB8AC3E}">
        <p14:creationId xmlns:p14="http://schemas.microsoft.com/office/powerpoint/2010/main" val="1649663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E293ED9-B797-0585-D75F-2AA7EF8841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1502686"/>
              </p:ext>
            </p:extLst>
          </p:nvPr>
        </p:nvGraphicFramePr>
        <p:xfrm>
          <a:off x="716437" y="1838850"/>
          <a:ext cx="4572000" cy="23198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8" name="Picture 27" descr="Several paper money on a table&#10;&#10;Description automatically generated">
            <a:extLst>
              <a:ext uri="{FF2B5EF4-FFF2-40B4-BE49-F238E27FC236}">
                <a16:creationId xmlns:a16="http://schemas.microsoft.com/office/drawing/2014/main" id="{58C16BDF-3740-BE9D-C111-60172339C9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301"/>
          <a:stretch/>
        </p:blipFill>
        <p:spPr>
          <a:xfrm>
            <a:off x="5756953" y="1307527"/>
            <a:ext cx="6435047" cy="5451174"/>
          </a:xfrm>
          <a:prstGeom prst="rect">
            <a:avLst/>
          </a:prstGeom>
          <a:solidFill>
            <a:srgbClr val="FF6EA9">
              <a:alpha val="29804"/>
            </a:srgbClr>
          </a:solidFill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6395B9FC-0061-E444-2666-7BFFA4D83AB0}"/>
              </a:ext>
            </a:extLst>
          </p:cNvPr>
          <p:cNvSpPr/>
          <p:nvPr/>
        </p:nvSpPr>
        <p:spPr>
          <a:xfrm>
            <a:off x="0" y="-20574"/>
            <a:ext cx="12192000" cy="1206500"/>
          </a:xfrm>
          <a:prstGeom prst="rect">
            <a:avLst/>
          </a:prstGeom>
          <a:solidFill>
            <a:srgbClr val="05192D"/>
          </a:solidFill>
          <a:ln>
            <a:solidFill>
              <a:schemeClr val="accent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8207794-4A35-496D-974D-CC85B4627E38}"/>
              </a:ext>
            </a:extLst>
          </p:cNvPr>
          <p:cNvSpPr txBox="1"/>
          <p:nvPr/>
        </p:nvSpPr>
        <p:spPr>
          <a:xfrm>
            <a:off x="203200" y="429782"/>
            <a:ext cx="956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Un-covering the </a:t>
            </a:r>
            <a:r>
              <a:rPr lang="en-US" dirty="0">
                <a:solidFill>
                  <a:schemeClr val="accent1"/>
                </a:solidFill>
              </a:rPr>
              <a:t>Insurance Products </a:t>
            </a:r>
            <a:r>
              <a:rPr lang="en-US" dirty="0">
                <a:solidFill>
                  <a:schemeClr val="bg1"/>
                </a:solidFill>
              </a:rPr>
              <a:t>for </a:t>
            </a:r>
            <a:r>
              <a:rPr lang="en-US" dirty="0">
                <a:solidFill>
                  <a:schemeClr val="accent1"/>
                </a:solidFill>
              </a:rPr>
              <a:t>HBA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8C7CD7C8-754A-356A-EB90-5C9EEBA77DC3}"/>
              </a:ext>
            </a:extLst>
          </p:cNvPr>
          <p:cNvSpPr/>
          <p:nvPr/>
        </p:nvSpPr>
        <p:spPr>
          <a:xfrm>
            <a:off x="890908" y="1370384"/>
            <a:ext cx="4397529" cy="358775"/>
          </a:xfrm>
          <a:prstGeom prst="roundRect">
            <a:avLst/>
          </a:prstGeom>
          <a:gradFill flip="none" rotWithShape="1">
            <a:gsLst>
              <a:gs pos="0">
                <a:srgbClr val="7933FF">
                  <a:alpha val="98824"/>
                </a:srgbClr>
              </a:gs>
              <a:gs pos="100000">
                <a:srgbClr val="05192D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Total Sum Assured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37B60D5-9989-52AD-B0A2-BDEECE15E905}"/>
              </a:ext>
            </a:extLst>
          </p:cNvPr>
          <p:cNvSpPr/>
          <p:nvPr/>
        </p:nvSpPr>
        <p:spPr>
          <a:xfrm>
            <a:off x="803672" y="4164193"/>
            <a:ext cx="4397529" cy="358775"/>
          </a:xfrm>
          <a:prstGeom prst="roundRect">
            <a:avLst/>
          </a:prstGeom>
          <a:gradFill flip="none" rotWithShape="1">
            <a:gsLst>
              <a:gs pos="0">
                <a:srgbClr val="7933FF"/>
              </a:gs>
              <a:gs pos="100000">
                <a:srgbClr val="05192D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Total Chargeable Premiums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48B713-B43C-CACD-1187-6B5DEB27CFE5}"/>
              </a:ext>
            </a:extLst>
          </p:cNvPr>
          <p:cNvSpPr txBox="1"/>
          <p:nvPr/>
        </p:nvSpPr>
        <p:spPr>
          <a:xfrm>
            <a:off x="1323832" y="3856404"/>
            <a:ext cx="12282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bg2">
                    <a:lumMod val="50000"/>
                  </a:schemeClr>
                </a:solidFill>
              </a:rPr>
              <a:t>Insurance Product Type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CA3B46A-7838-8BE9-D1DF-7ED6F0B9EEE5}"/>
              </a:ext>
            </a:extLst>
          </p:cNvPr>
          <p:cNvSpPr txBox="1"/>
          <p:nvPr/>
        </p:nvSpPr>
        <p:spPr>
          <a:xfrm>
            <a:off x="6036559" y="1636282"/>
            <a:ext cx="561841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What’s the relationship between </a:t>
            </a:r>
          </a:p>
          <a:p>
            <a:r>
              <a:rPr lang="en-US" b="1" dirty="0">
                <a:solidFill>
                  <a:schemeClr val="accent6"/>
                </a:solidFill>
              </a:rPr>
              <a:t>the Sum Assured &amp; the Premiums?</a:t>
            </a:r>
          </a:p>
          <a:p>
            <a:endParaRPr lang="en-US" dirty="0">
              <a:solidFill>
                <a:schemeClr val="accent6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6"/>
                </a:solidFill>
              </a:rPr>
              <a:t>Negative Correlation</a:t>
            </a:r>
          </a:p>
          <a:p>
            <a:endParaRPr lang="en-US" dirty="0">
              <a:solidFill>
                <a:schemeClr val="accent6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6"/>
                </a:solidFill>
              </a:rPr>
              <a:t>Unique Premium Structure or Product Design</a:t>
            </a:r>
          </a:p>
          <a:p>
            <a:endParaRPr lang="en-US" dirty="0">
              <a:solidFill>
                <a:schemeClr val="accent6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6"/>
                </a:solidFill>
              </a:rPr>
              <a:t>Imbalances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chemeClr val="accent6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6"/>
                </a:solidFill>
              </a:rPr>
              <a:t>Client’s Financial Status</a:t>
            </a:r>
          </a:p>
          <a:p>
            <a:endParaRPr lang="en-US" dirty="0">
              <a:solidFill>
                <a:schemeClr val="accent6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6"/>
                </a:solidFill>
              </a:rPr>
              <a:t>Risk Assessment</a:t>
            </a:r>
          </a:p>
          <a:p>
            <a:endParaRPr lang="en-US" dirty="0">
              <a:solidFill>
                <a:schemeClr val="accent6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6"/>
                </a:solidFill>
              </a:rPr>
              <a:t>Opportunities in the Discrepancies</a:t>
            </a:r>
          </a:p>
          <a:p>
            <a:endParaRPr lang="en-US" dirty="0">
              <a:solidFill>
                <a:schemeClr val="accent6"/>
              </a:solidFill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7E65F67-4757-24AC-6B99-E48F8F4E38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8796193"/>
              </p:ext>
            </p:extLst>
          </p:nvPr>
        </p:nvGraphicFramePr>
        <p:xfrm>
          <a:off x="716436" y="4646499"/>
          <a:ext cx="4572000" cy="2112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C48DE03-79A3-5A16-1C95-1737D509E96A}"/>
              </a:ext>
            </a:extLst>
          </p:cNvPr>
          <p:cNvSpPr txBox="1"/>
          <p:nvPr/>
        </p:nvSpPr>
        <p:spPr>
          <a:xfrm>
            <a:off x="1323832" y="6463387"/>
            <a:ext cx="12282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bg2">
                    <a:lumMod val="50000"/>
                  </a:schemeClr>
                </a:solidFill>
              </a:rPr>
              <a:t>Insurance Product Type</a:t>
            </a:r>
          </a:p>
        </p:txBody>
      </p:sp>
    </p:spTree>
    <p:extLst>
      <p:ext uri="{BB962C8B-B14F-4D97-AF65-F5344CB8AC3E}">
        <p14:creationId xmlns:p14="http://schemas.microsoft.com/office/powerpoint/2010/main" val="3908502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6395B9FC-0061-E444-2666-7BFFA4D83AB0}"/>
              </a:ext>
            </a:extLst>
          </p:cNvPr>
          <p:cNvSpPr/>
          <p:nvPr/>
        </p:nvSpPr>
        <p:spPr>
          <a:xfrm>
            <a:off x="0" y="-20574"/>
            <a:ext cx="12192000" cy="1206500"/>
          </a:xfrm>
          <a:prstGeom prst="rect">
            <a:avLst/>
          </a:prstGeom>
          <a:solidFill>
            <a:srgbClr val="05192D"/>
          </a:solidFill>
          <a:ln>
            <a:solidFill>
              <a:schemeClr val="accent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8207794-4A35-496D-974D-CC85B4627E38}"/>
              </a:ext>
            </a:extLst>
          </p:cNvPr>
          <p:cNvSpPr txBox="1"/>
          <p:nvPr/>
        </p:nvSpPr>
        <p:spPr>
          <a:xfrm>
            <a:off x="203200" y="429782"/>
            <a:ext cx="956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Assessing HBA’s </a:t>
            </a:r>
            <a:r>
              <a:rPr lang="en-US" dirty="0">
                <a:solidFill>
                  <a:schemeClr val="accent1"/>
                </a:solidFill>
              </a:rPr>
              <a:t>Financial Performance</a:t>
            </a:r>
          </a:p>
        </p:txBody>
      </p:sp>
      <p:pic>
        <p:nvPicPr>
          <p:cNvPr id="5" name="Picture 4" descr="A group of people discussing over a computer&#10;&#10;Description automatically generated">
            <a:extLst>
              <a:ext uri="{FF2B5EF4-FFF2-40B4-BE49-F238E27FC236}">
                <a16:creationId xmlns:a16="http://schemas.microsoft.com/office/drawing/2014/main" id="{758AB15E-C3E2-2C1A-86C8-1175F87E2BC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812" b="15403"/>
          <a:stretch/>
        </p:blipFill>
        <p:spPr>
          <a:xfrm>
            <a:off x="-843423" y="1636282"/>
            <a:ext cx="13878846" cy="4421687"/>
          </a:xfrm>
          <a:prstGeom prst="rect">
            <a:avLst/>
          </a:prstGeom>
          <a:solidFill>
            <a:srgbClr val="FF6EA9">
              <a:alpha val="0"/>
            </a:srgbClr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C14195-C84B-18A8-C9DA-AB7D14FD09DE}"/>
              </a:ext>
            </a:extLst>
          </p:cNvPr>
          <p:cNvSpPr txBox="1"/>
          <p:nvPr/>
        </p:nvSpPr>
        <p:spPr>
          <a:xfrm>
            <a:off x="565244" y="2659296"/>
            <a:ext cx="2908168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MY" sz="3200" b="1" dirty="0">
                <a:solidFill>
                  <a:schemeClr val="accent6"/>
                </a:solidFill>
              </a:rPr>
              <a:t>RM 1.57 billion</a:t>
            </a:r>
          </a:p>
          <a:p>
            <a:pPr algn="ctr"/>
            <a:r>
              <a:rPr lang="en-US" sz="2000" b="1" dirty="0">
                <a:solidFill>
                  <a:schemeClr val="accent5"/>
                </a:solidFill>
              </a:rPr>
              <a:t>Total Sum Assured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EE633B-21E5-5836-5560-E75D694EC5CF}"/>
              </a:ext>
            </a:extLst>
          </p:cNvPr>
          <p:cNvSpPr txBox="1"/>
          <p:nvPr/>
        </p:nvSpPr>
        <p:spPr>
          <a:xfrm>
            <a:off x="392921" y="4329166"/>
            <a:ext cx="3252814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3200" b="1" dirty="0">
                <a:solidFill>
                  <a:schemeClr val="accent6"/>
                </a:solidFill>
              </a:rPr>
              <a:t>RM 41.74 million</a:t>
            </a:r>
          </a:p>
          <a:p>
            <a:pPr algn="ctr"/>
            <a:r>
              <a:rPr lang="en-US" sz="2000" b="1" dirty="0">
                <a:solidFill>
                  <a:schemeClr val="accent5"/>
                </a:solidFill>
              </a:rPr>
              <a:t>Total Premiums Charged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5DB012-7979-7DF7-05A8-9C8124F7DD16}"/>
              </a:ext>
            </a:extLst>
          </p:cNvPr>
          <p:cNvSpPr txBox="1"/>
          <p:nvPr/>
        </p:nvSpPr>
        <p:spPr>
          <a:xfrm>
            <a:off x="9165062" y="2659296"/>
            <a:ext cx="2399631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MY" sz="3200" b="1" dirty="0">
                <a:solidFill>
                  <a:schemeClr val="accent6"/>
                </a:solidFill>
              </a:rPr>
              <a:t>4,017</a:t>
            </a:r>
          </a:p>
          <a:p>
            <a:r>
              <a:rPr lang="en-US" sz="2000" b="1" dirty="0">
                <a:solidFill>
                  <a:schemeClr val="accent5"/>
                </a:solidFill>
              </a:rPr>
              <a:t>Number of Policies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B5F640-7DFD-1D1A-F936-274FD69CC642}"/>
              </a:ext>
            </a:extLst>
          </p:cNvPr>
          <p:cNvSpPr txBox="1"/>
          <p:nvPr/>
        </p:nvSpPr>
        <p:spPr>
          <a:xfrm>
            <a:off x="5664928" y="2659296"/>
            <a:ext cx="1395575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MY" sz="3200" b="1" dirty="0">
                <a:solidFill>
                  <a:schemeClr val="accent6"/>
                </a:solidFill>
              </a:rPr>
              <a:t>2.78%</a:t>
            </a:r>
          </a:p>
          <a:p>
            <a:pPr algn="ctr"/>
            <a:r>
              <a:rPr lang="en-US" sz="2000" b="1" dirty="0">
                <a:solidFill>
                  <a:schemeClr val="accent5"/>
                </a:solidFill>
              </a:rPr>
              <a:t>Loss Ratio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185009-CFC0-2D6D-1EDE-76A9E10497AE}"/>
              </a:ext>
            </a:extLst>
          </p:cNvPr>
          <p:cNvSpPr txBox="1"/>
          <p:nvPr/>
        </p:nvSpPr>
        <p:spPr>
          <a:xfrm>
            <a:off x="5057582" y="4357244"/>
            <a:ext cx="2610266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MY" sz="3200" b="1" dirty="0">
                <a:solidFill>
                  <a:schemeClr val="accent6"/>
                </a:solidFill>
              </a:rPr>
              <a:t>143k</a:t>
            </a:r>
          </a:p>
          <a:p>
            <a:pPr algn="ctr"/>
            <a:r>
              <a:rPr lang="en-US" sz="2000" b="1" dirty="0">
                <a:solidFill>
                  <a:schemeClr val="accent5"/>
                </a:solidFill>
              </a:rPr>
              <a:t>Client Lifetime Value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D8EA13-58BC-783D-B8D5-3F99BA485B82}"/>
              </a:ext>
            </a:extLst>
          </p:cNvPr>
          <p:cNvSpPr txBox="1"/>
          <p:nvPr/>
        </p:nvSpPr>
        <p:spPr>
          <a:xfrm>
            <a:off x="9248418" y="4329166"/>
            <a:ext cx="2316275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MY" sz="3200" b="1" dirty="0">
                <a:solidFill>
                  <a:schemeClr val="accent6"/>
                </a:solidFill>
              </a:rPr>
              <a:t>3,874</a:t>
            </a:r>
          </a:p>
          <a:p>
            <a:r>
              <a:rPr lang="en-US" sz="2000" b="1" dirty="0">
                <a:solidFill>
                  <a:schemeClr val="accent5"/>
                </a:solidFill>
              </a:rPr>
              <a:t>Number of Clients</a:t>
            </a:r>
          </a:p>
        </p:txBody>
      </p:sp>
    </p:spTree>
    <p:extLst>
      <p:ext uri="{BB962C8B-B14F-4D97-AF65-F5344CB8AC3E}">
        <p14:creationId xmlns:p14="http://schemas.microsoft.com/office/powerpoint/2010/main" val="3936737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413C29A-31F9-D1F2-53C3-CD37D5E2DDB4}"/>
              </a:ext>
            </a:extLst>
          </p:cNvPr>
          <p:cNvSpPr txBox="1"/>
          <p:nvPr/>
        </p:nvSpPr>
        <p:spPr>
          <a:xfrm>
            <a:off x="224442" y="2919565"/>
            <a:ext cx="11743116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accent6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accent6"/>
                </a:solidFill>
              </a:rPr>
              <a:t>Addressing the disparity between Sum Assured and Premiums to be Paid</a:t>
            </a:r>
          </a:p>
          <a:p>
            <a:endParaRPr lang="en-US" dirty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At first glance, the Average of Sum Assured per plan for Product E is relatively lower for it’s the Average Secured Premiums to be paid per plan (x37,860), as compared to Product A (x18,755)</a:t>
            </a:r>
          </a:p>
          <a:p>
            <a:endParaRPr lang="en-US" sz="1500" dirty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Pricing strategy must align with set of criteria for “re-balancing”, for all product offerings</a:t>
            </a:r>
          </a:p>
          <a:p>
            <a:pPr lvl="1"/>
            <a:endParaRPr lang="en-US" dirty="0">
              <a:solidFill>
                <a:schemeClr val="accent6"/>
              </a:solidFill>
            </a:endParaRPr>
          </a:p>
          <a:p>
            <a:endParaRPr lang="en-US" dirty="0">
              <a:solidFill>
                <a:schemeClr val="accent6"/>
              </a:solidFill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en-US" b="1" dirty="0">
                <a:solidFill>
                  <a:schemeClr val="accent6"/>
                </a:solidFill>
              </a:rPr>
              <a:t>Reducing Loss Ratios/Premiums Loss while identifying the root causes</a:t>
            </a:r>
          </a:p>
          <a:p>
            <a:endParaRPr lang="en-US" dirty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Product E and Product A contributes to losses in terms of Premiums received since Jan 2020 – June 2020</a:t>
            </a:r>
          </a:p>
          <a:p>
            <a:endParaRPr lang="en-US" sz="1500" dirty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Finding the probable causes that contributing to high Loss Ratios/Premiums Loss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B92783-DB05-1F5B-5A16-BF07ADB4CE8E}"/>
              </a:ext>
            </a:extLst>
          </p:cNvPr>
          <p:cNvSpPr/>
          <p:nvPr/>
        </p:nvSpPr>
        <p:spPr>
          <a:xfrm>
            <a:off x="0" y="-20574"/>
            <a:ext cx="12192000" cy="1206500"/>
          </a:xfrm>
          <a:prstGeom prst="rect">
            <a:avLst/>
          </a:prstGeom>
          <a:solidFill>
            <a:srgbClr val="05192D"/>
          </a:solidFill>
          <a:ln>
            <a:solidFill>
              <a:schemeClr val="accent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AFBC94-52F7-4F81-C3A9-CF6A26B9D91A}"/>
              </a:ext>
            </a:extLst>
          </p:cNvPr>
          <p:cNvSpPr txBox="1"/>
          <p:nvPr/>
        </p:nvSpPr>
        <p:spPr>
          <a:xfrm>
            <a:off x="203200" y="429782"/>
            <a:ext cx="956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dirty="0">
                <a:solidFill>
                  <a:schemeClr val="accent1"/>
                </a:solidFill>
              </a:rPr>
              <a:t>Business Problems</a:t>
            </a:r>
          </a:p>
        </p:txBody>
      </p:sp>
      <p:pic>
        <p:nvPicPr>
          <p:cNvPr id="6" name="Picture 5" descr="A logo with green triangles&#10;&#10;Description automatically generated">
            <a:extLst>
              <a:ext uri="{FF2B5EF4-FFF2-40B4-BE49-F238E27FC236}">
                <a16:creationId xmlns:a16="http://schemas.microsoft.com/office/drawing/2014/main" id="{D6825604-D190-7C75-A267-8503A909B2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026" y="1334311"/>
            <a:ext cx="1809947" cy="1809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21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37BD8072-CAA0-7460-3FF3-94F893A0F9D0}"/>
              </a:ext>
            </a:extLst>
          </p:cNvPr>
          <p:cNvSpPr txBox="1"/>
          <p:nvPr/>
        </p:nvSpPr>
        <p:spPr>
          <a:xfrm>
            <a:off x="1550192" y="5049578"/>
            <a:ext cx="383898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Step 4: Analyze the discrepancies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Identify which policies where the Sum Assured is significantly above or below the median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Identify which policies where the median Modal Premiums is significantly above or below the mean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6D4A13-8C59-A30A-ACBF-70B906F95368}"/>
              </a:ext>
            </a:extLst>
          </p:cNvPr>
          <p:cNvSpPr/>
          <p:nvPr/>
        </p:nvSpPr>
        <p:spPr>
          <a:xfrm>
            <a:off x="0" y="-20574"/>
            <a:ext cx="12192000" cy="1206500"/>
          </a:xfrm>
          <a:prstGeom prst="rect">
            <a:avLst/>
          </a:prstGeom>
          <a:solidFill>
            <a:srgbClr val="05192D"/>
          </a:solidFill>
          <a:ln>
            <a:solidFill>
              <a:schemeClr val="accent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EADA4F-EF45-4547-0C6F-F1DF93CAB092}"/>
              </a:ext>
            </a:extLst>
          </p:cNvPr>
          <p:cNvSpPr txBox="1"/>
          <p:nvPr/>
        </p:nvSpPr>
        <p:spPr>
          <a:xfrm>
            <a:off x="203200" y="429782"/>
            <a:ext cx="956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Disparity between </a:t>
            </a:r>
            <a:r>
              <a:rPr lang="en-US" dirty="0">
                <a:solidFill>
                  <a:schemeClr val="accent1"/>
                </a:solidFill>
              </a:rPr>
              <a:t>Sum Assured </a:t>
            </a:r>
            <a:r>
              <a:rPr lang="en-US" dirty="0">
                <a:solidFill>
                  <a:schemeClr val="bg1"/>
                </a:solidFill>
              </a:rPr>
              <a:t>and </a:t>
            </a:r>
            <a:r>
              <a:rPr lang="en-US" dirty="0">
                <a:solidFill>
                  <a:schemeClr val="accent1"/>
                </a:solidFill>
              </a:rPr>
              <a:t>Modal Premiums</a:t>
            </a:r>
            <a:r>
              <a:rPr lang="en-US" dirty="0">
                <a:solidFill>
                  <a:schemeClr val="bg1"/>
                </a:solidFill>
              </a:rPr>
              <a:t> for each Products</a:t>
            </a:r>
          </a:p>
        </p:txBody>
      </p:sp>
      <p:pic>
        <p:nvPicPr>
          <p:cNvPr id="16" name="Picture 15" descr="A person using a grinder&#10;&#10;Description automatically generated">
            <a:extLst>
              <a:ext uri="{FF2B5EF4-FFF2-40B4-BE49-F238E27FC236}">
                <a16:creationId xmlns:a16="http://schemas.microsoft.com/office/drawing/2014/main" id="{DC9C1726-1985-4FE7-BAA6-2EEF9CE6568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5350" y="3069167"/>
            <a:ext cx="2781300" cy="1854200"/>
          </a:xfrm>
          <a:prstGeom prst="rect">
            <a:avLst/>
          </a:prstGeom>
          <a:solidFill>
            <a:srgbClr val="FF6EA9">
              <a:alpha val="20000"/>
            </a:srgbClr>
          </a:solidFill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75AFA1F-19E8-8C1F-EC52-F4E0E7E6A8D5}"/>
              </a:ext>
            </a:extLst>
          </p:cNvPr>
          <p:cNvSpPr/>
          <p:nvPr/>
        </p:nvSpPr>
        <p:spPr>
          <a:xfrm>
            <a:off x="4638000" y="3006267"/>
            <a:ext cx="2916000" cy="1980000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Graphic 18" descr="Harvey Balls 20% with solid fill">
            <a:extLst>
              <a:ext uri="{FF2B5EF4-FFF2-40B4-BE49-F238E27FC236}">
                <a16:creationId xmlns:a16="http://schemas.microsoft.com/office/drawing/2014/main" id="{EA332389-9B8F-BA0E-2A90-034C860498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8838" y="1594390"/>
            <a:ext cx="584200" cy="5842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9597DFF-61FD-26B3-AD33-3EDD90F71026}"/>
              </a:ext>
            </a:extLst>
          </p:cNvPr>
          <p:cNvSpPr txBox="1"/>
          <p:nvPr/>
        </p:nvSpPr>
        <p:spPr>
          <a:xfrm>
            <a:off x="7580166" y="2054406"/>
            <a:ext cx="3838982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Step1: Data Segmentation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Segment Policies into product groups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1D2E5C-3A75-7D97-A6B2-043197499070}"/>
              </a:ext>
            </a:extLst>
          </p:cNvPr>
          <p:cNvSpPr txBox="1"/>
          <p:nvPr/>
        </p:nvSpPr>
        <p:spPr>
          <a:xfrm>
            <a:off x="8363397" y="3690873"/>
            <a:ext cx="383898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Step 2: Calculate statistical measures for each Product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Sum Assured: Median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Modal Premiums: Mean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E3C373-40F4-E52F-0D9F-130AB9122EEB}"/>
              </a:ext>
            </a:extLst>
          </p:cNvPr>
          <p:cNvSpPr txBox="1"/>
          <p:nvPr/>
        </p:nvSpPr>
        <p:spPr>
          <a:xfrm>
            <a:off x="7397156" y="5474111"/>
            <a:ext cx="383898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Step 3: Identify imbalances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Compare each policies against the median Sum Assured &amp; the mean Modal Premiums of its product group</a:t>
            </a:r>
          </a:p>
        </p:txBody>
      </p:sp>
      <p:pic>
        <p:nvPicPr>
          <p:cNvPr id="28" name="Graphic 27" descr="Harvey Balls 25% with solid fill">
            <a:extLst>
              <a:ext uri="{FF2B5EF4-FFF2-40B4-BE49-F238E27FC236}">
                <a16:creationId xmlns:a16="http://schemas.microsoft.com/office/drawing/2014/main" id="{37C3BFB6-E024-4EF7-8D1F-3F00BE34A1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8232" y="3382869"/>
            <a:ext cx="583200" cy="583200"/>
          </a:xfrm>
          <a:prstGeom prst="rect">
            <a:avLst/>
          </a:prstGeom>
        </p:spPr>
      </p:pic>
      <p:pic>
        <p:nvPicPr>
          <p:cNvPr id="30" name="Graphic 29" descr="Harvey Balls 35% with solid fill">
            <a:extLst>
              <a:ext uri="{FF2B5EF4-FFF2-40B4-BE49-F238E27FC236}">
                <a16:creationId xmlns:a16="http://schemas.microsoft.com/office/drawing/2014/main" id="{4ECDC8C4-3C40-4439-17C9-C2BC0126769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32607" y="5195211"/>
            <a:ext cx="583200" cy="583200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03413BF-A179-6345-CCA3-3F7AB2F98545}"/>
              </a:ext>
            </a:extLst>
          </p:cNvPr>
          <p:cNvCxnSpPr>
            <a:stCxn id="19" idx="2"/>
          </p:cNvCxnSpPr>
          <p:nvPr/>
        </p:nvCxnSpPr>
        <p:spPr>
          <a:xfrm>
            <a:off x="7410938" y="2178590"/>
            <a:ext cx="0" cy="554588"/>
          </a:xfrm>
          <a:prstGeom prst="line">
            <a:avLst/>
          </a:prstGeom>
          <a:ln w="19050"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7C0898B-8247-20F0-CE33-894DD5350391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7703038" y="1886490"/>
            <a:ext cx="3431500" cy="0"/>
          </a:xfrm>
          <a:prstGeom prst="line">
            <a:avLst/>
          </a:prstGeom>
          <a:ln w="19050"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5C3AAD8-6125-E287-9158-1A7142918CDA}"/>
              </a:ext>
            </a:extLst>
          </p:cNvPr>
          <p:cNvCxnSpPr>
            <a:cxnSpLocks/>
          </p:cNvCxnSpPr>
          <p:nvPr/>
        </p:nvCxnSpPr>
        <p:spPr>
          <a:xfrm flipV="1">
            <a:off x="11134538" y="1886490"/>
            <a:ext cx="0" cy="846688"/>
          </a:xfrm>
          <a:prstGeom prst="line">
            <a:avLst/>
          </a:prstGeom>
          <a:ln w="19050"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42D40C6-BCEF-1417-F205-F3ED3716FC67}"/>
              </a:ext>
            </a:extLst>
          </p:cNvPr>
          <p:cNvCxnSpPr>
            <a:cxnSpLocks/>
          </p:cNvCxnSpPr>
          <p:nvPr/>
        </p:nvCxnSpPr>
        <p:spPr>
          <a:xfrm flipH="1">
            <a:off x="7410938" y="2733178"/>
            <a:ext cx="3723600" cy="0"/>
          </a:xfrm>
          <a:prstGeom prst="line">
            <a:avLst/>
          </a:prstGeom>
          <a:ln w="19050"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9577686-EDCE-D96A-21A0-B2C005C173C7}"/>
              </a:ext>
            </a:extLst>
          </p:cNvPr>
          <p:cNvCxnSpPr>
            <a:cxnSpLocks/>
          </p:cNvCxnSpPr>
          <p:nvPr/>
        </p:nvCxnSpPr>
        <p:spPr>
          <a:xfrm>
            <a:off x="8294088" y="3986698"/>
            <a:ext cx="0" cy="592922"/>
          </a:xfrm>
          <a:prstGeom prst="line">
            <a:avLst/>
          </a:prstGeom>
          <a:ln w="19050"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34336AF-9187-D228-6318-2798BEF63D91}"/>
              </a:ext>
            </a:extLst>
          </p:cNvPr>
          <p:cNvCxnSpPr>
            <a:cxnSpLocks/>
          </p:cNvCxnSpPr>
          <p:nvPr/>
        </p:nvCxnSpPr>
        <p:spPr>
          <a:xfrm>
            <a:off x="8586188" y="3694598"/>
            <a:ext cx="3500080" cy="0"/>
          </a:xfrm>
          <a:prstGeom prst="line">
            <a:avLst/>
          </a:prstGeom>
          <a:ln w="19050"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0A4E2B3-5940-7D3B-7D4C-69BB3A4F99AB}"/>
              </a:ext>
            </a:extLst>
          </p:cNvPr>
          <p:cNvCxnSpPr>
            <a:cxnSpLocks/>
          </p:cNvCxnSpPr>
          <p:nvPr/>
        </p:nvCxnSpPr>
        <p:spPr>
          <a:xfrm flipV="1">
            <a:off x="12086268" y="3702004"/>
            <a:ext cx="0" cy="877382"/>
          </a:xfrm>
          <a:prstGeom prst="line">
            <a:avLst/>
          </a:prstGeom>
          <a:ln w="19050"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AACFF10-2C70-74DD-AB6E-B7B0A5494CAB}"/>
              </a:ext>
            </a:extLst>
          </p:cNvPr>
          <p:cNvCxnSpPr>
            <a:cxnSpLocks/>
          </p:cNvCxnSpPr>
          <p:nvPr/>
        </p:nvCxnSpPr>
        <p:spPr>
          <a:xfrm flipH="1">
            <a:off x="8294088" y="4579386"/>
            <a:ext cx="3792180" cy="0"/>
          </a:xfrm>
          <a:prstGeom prst="line">
            <a:avLst/>
          </a:prstGeom>
          <a:ln w="19050"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C182C73-8990-B697-5045-A215F0B3F2CA}"/>
              </a:ext>
            </a:extLst>
          </p:cNvPr>
          <p:cNvCxnSpPr>
            <a:cxnSpLocks/>
          </p:cNvCxnSpPr>
          <p:nvPr/>
        </p:nvCxnSpPr>
        <p:spPr>
          <a:xfrm>
            <a:off x="7342358" y="5779088"/>
            <a:ext cx="0" cy="592922"/>
          </a:xfrm>
          <a:prstGeom prst="line">
            <a:avLst/>
          </a:prstGeom>
          <a:ln w="19050"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7E10363-8F56-F9FA-6377-257CD8825FBC}"/>
              </a:ext>
            </a:extLst>
          </p:cNvPr>
          <p:cNvCxnSpPr>
            <a:cxnSpLocks/>
          </p:cNvCxnSpPr>
          <p:nvPr/>
        </p:nvCxnSpPr>
        <p:spPr>
          <a:xfrm>
            <a:off x="7634458" y="5486988"/>
            <a:ext cx="3500080" cy="0"/>
          </a:xfrm>
          <a:prstGeom prst="line">
            <a:avLst/>
          </a:prstGeom>
          <a:ln w="19050"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5428D56C-BA85-3EF1-A73A-6C5E0200D3D7}"/>
              </a:ext>
            </a:extLst>
          </p:cNvPr>
          <p:cNvCxnSpPr>
            <a:cxnSpLocks/>
          </p:cNvCxnSpPr>
          <p:nvPr/>
        </p:nvCxnSpPr>
        <p:spPr>
          <a:xfrm flipV="1">
            <a:off x="11134538" y="5494394"/>
            <a:ext cx="0" cy="877382"/>
          </a:xfrm>
          <a:prstGeom prst="line">
            <a:avLst/>
          </a:prstGeom>
          <a:ln w="19050"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5B7C96FA-493C-07B8-203A-2DFDE45ABB7B}"/>
              </a:ext>
            </a:extLst>
          </p:cNvPr>
          <p:cNvCxnSpPr>
            <a:cxnSpLocks/>
          </p:cNvCxnSpPr>
          <p:nvPr/>
        </p:nvCxnSpPr>
        <p:spPr>
          <a:xfrm flipH="1">
            <a:off x="7342358" y="6371776"/>
            <a:ext cx="3792180" cy="0"/>
          </a:xfrm>
          <a:prstGeom prst="line">
            <a:avLst/>
          </a:prstGeom>
          <a:ln w="19050"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aphicFrame>
        <p:nvGraphicFramePr>
          <p:cNvPr id="75" name="Chart 74">
            <a:extLst>
              <a:ext uri="{FF2B5EF4-FFF2-40B4-BE49-F238E27FC236}">
                <a16:creationId xmlns:a16="http://schemas.microsoft.com/office/drawing/2014/main" id="{8B100EDD-0E0B-C27B-81B5-774C0B7A7B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3683883"/>
              </p:ext>
            </p:extLst>
          </p:nvPr>
        </p:nvGraphicFramePr>
        <p:xfrm>
          <a:off x="491037" y="1966414"/>
          <a:ext cx="3591737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77" name="TextBox 76">
            <a:extLst>
              <a:ext uri="{FF2B5EF4-FFF2-40B4-BE49-F238E27FC236}">
                <a16:creationId xmlns:a16="http://schemas.microsoft.com/office/drawing/2014/main" id="{32FD7E31-C58B-879C-1F9F-A188DB1F006E}"/>
              </a:ext>
            </a:extLst>
          </p:cNvPr>
          <p:cNvSpPr txBox="1"/>
          <p:nvPr/>
        </p:nvSpPr>
        <p:spPr>
          <a:xfrm>
            <a:off x="613585" y="1390509"/>
            <a:ext cx="3723597" cy="9233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/>
              <a:t>As a result, out of 4,017 policies,</a:t>
            </a:r>
          </a:p>
          <a:p>
            <a:pPr algn="ctr"/>
            <a:r>
              <a:rPr lang="en-US" dirty="0"/>
              <a:t>the premiums charged can be segmented:</a:t>
            </a:r>
          </a:p>
        </p:txBody>
      </p:sp>
      <p:pic>
        <p:nvPicPr>
          <p:cNvPr id="7" name="Graphic 6" descr="Harvey Balls 50% with solid fill">
            <a:extLst>
              <a:ext uri="{FF2B5EF4-FFF2-40B4-BE49-F238E27FC236}">
                <a16:creationId xmlns:a16="http://schemas.microsoft.com/office/drawing/2014/main" id="{C11255F7-71F0-EF14-1201-68C88362569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56717" y="4976181"/>
            <a:ext cx="584196" cy="58419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D67C1C-6773-1580-6458-CFD0DF22640F}"/>
              </a:ext>
            </a:extLst>
          </p:cNvPr>
          <p:cNvCxnSpPr>
            <a:cxnSpLocks/>
          </p:cNvCxnSpPr>
          <p:nvPr/>
        </p:nvCxnSpPr>
        <p:spPr>
          <a:xfrm>
            <a:off x="1395616" y="5513888"/>
            <a:ext cx="0" cy="1107932"/>
          </a:xfrm>
          <a:prstGeom prst="line">
            <a:avLst/>
          </a:prstGeom>
          <a:ln w="19050"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495100-1B90-5FD9-7A3F-1FA0A982C15D}"/>
              </a:ext>
            </a:extLst>
          </p:cNvPr>
          <p:cNvCxnSpPr>
            <a:cxnSpLocks/>
          </p:cNvCxnSpPr>
          <p:nvPr/>
        </p:nvCxnSpPr>
        <p:spPr>
          <a:xfrm>
            <a:off x="1550192" y="5079274"/>
            <a:ext cx="3637604" cy="0"/>
          </a:xfrm>
          <a:prstGeom prst="line">
            <a:avLst/>
          </a:prstGeom>
          <a:ln w="19050"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BBEF11C-D2E5-D73B-B193-D32EE59687D5}"/>
              </a:ext>
            </a:extLst>
          </p:cNvPr>
          <p:cNvCxnSpPr>
            <a:cxnSpLocks/>
          </p:cNvCxnSpPr>
          <p:nvPr/>
        </p:nvCxnSpPr>
        <p:spPr>
          <a:xfrm flipV="1">
            <a:off x="5187796" y="5079274"/>
            <a:ext cx="0" cy="1542546"/>
          </a:xfrm>
          <a:prstGeom prst="line">
            <a:avLst/>
          </a:prstGeom>
          <a:ln w="19050"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DCAD3CF-3562-56A4-9E37-2045A0366A0C}"/>
              </a:ext>
            </a:extLst>
          </p:cNvPr>
          <p:cNvCxnSpPr>
            <a:cxnSpLocks/>
          </p:cNvCxnSpPr>
          <p:nvPr/>
        </p:nvCxnSpPr>
        <p:spPr>
          <a:xfrm flipH="1">
            <a:off x="1367654" y="6621820"/>
            <a:ext cx="3792180" cy="0"/>
          </a:xfrm>
          <a:prstGeom prst="line">
            <a:avLst/>
          </a:prstGeom>
          <a:ln w="19050"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B100EDD-0E0B-C27B-81B5-774C0B7A7B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4196602"/>
              </p:ext>
            </p:extLst>
          </p:nvPr>
        </p:nvGraphicFramePr>
        <p:xfrm>
          <a:off x="285125" y="2290240"/>
          <a:ext cx="4250998" cy="2507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</p:spTree>
    <p:extLst>
      <p:ext uri="{BB962C8B-B14F-4D97-AF65-F5344CB8AC3E}">
        <p14:creationId xmlns:p14="http://schemas.microsoft.com/office/powerpoint/2010/main" val="909540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C05158A-95A2-C0F2-0981-62D42196CDF5}"/>
              </a:ext>
            </a:extLst>
          </p:cNvPr>
          <p:cNvSpPr/>
          <p:nvPr/>
        </p:nvSpPr>
        <p:spPr>
          <a:xfrm>
            <a:off x="0" y="-20574"/>
            <a:ext cx="12192000" cy="1206500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09BF0F-2BF1-8845-3C91-05DA64ACC839}"/>
              </a:ext>
            </a:extLst>
          </p:cNvPr>
          <p:cNvSpPr txBox="1"/>
          <p:nvPr/>
        </p:nvSpPr>
        <p:spPr>
          <a:xfrm>
            <a:off x="-12700" y="6232436"/>
            <a:ext cx="12192000" cy="600164"/>
          </a:xfrm>
          <a:prstGeom prst="rect">
            <a:avLst/>
          </a:prstGeom>
          <a:ln w="6350"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accent6"/>
                </a:solidFill>
              </a:rPr>
              <a:t>Secured Premiums:</a:t>
            </a:r>
          </a:p>
          <a:p>
            <a:endParaRPr lang="en-US" sz="1100" dirty="0">
              <a:solidFill>
                <a:schemeClr val="accent6"/>
              </a:solidFill>
            </a:endParaRPr>
          </a:p>
          <a:p>
            <a:r>
              <a:rPr lang="en-US" sz="1100" dirty="0">
                <a:solidFill>
                  <a:schemeClr val="accent6"/>
                </a:solidFill>
              </a:rPr>
              <a:t>Types of premiums that have guaranteed revenue for the company, according to the policy status of policy holders [ Modal Premiums x Payment Mode; if Payment Mode = 0, considered as 1]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B49CE9-3582-9388-D602-A6252293A127}"/>
              </a:ext>
            </a:extLst>
          </p:cNvPr>
          <p:cNvSpPr txBox="1"/>
          <p:nvPr/>
        </p:nvSpPr>
        <p:spPr>
          <a:xfrm>
            <a:off x="203200" y="429782"/>
            <a:ext cx="956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Without</a:t>
            </a:r>
            <a:r>
              <a:rPr lang="en-US" dirty="0">
                <a:solidFill>
                  <a:schemeClr val="bg1"/>
                </a:solidFill>
              </a:rPr>
              <a:t> the </a:t>
            </a:r>
            <a:r>
              <a:rPr lang="en-US" dirty="0">
                <a:solidFill>
                  <a:schemeClr val="accent1"/>
                </a:solidFill>
              </a:rPr>
              <a:t>Imbalance Segmentation</a:t>
            </a: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5F3189E7-9D9A-A52F-D07D-1A5B53D608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35436314"/>
              </p:ext>
            </p:extLst>
          </p:nvPr>
        </p:nvGraphicFramePr>
        <p:xfrm>
          <a:off x="495300" y="1371220"/>
          <a:ext cx="8153400" cy="44998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DD3050F9-E251-5EA7-2054-F0FA1AF072F8}"/>
              </a:ext>
            </a:extLst>
          </p:cNvPr>
          <p:cNvSpPr/>
          <p:nvPr/>
        </p:nvSpPr>
        <p:spPr>
          <a:xfrm>
            <a:off x="6496050" y="5598815"/>
            <a:ext cx="142875" cy="142875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60F641-202E-85EC-D2D5-2975952BA6CA}"/>
              </a:ext>
            </a:extLst>
          </p:cNvPr>
          <p:cNvSpPr txBox="1"/>
          <p:nvPr/>
        </p:nvSpPr>
        <p:spPr>
          <a:xfrm>
            <a:off x="8974136" y="1371220"/>
            <a:ext cx="2887664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/>
              <a:t>Observing with clarity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672F48-DE54-8009-8003-2936A08DC000}"/>
              </a:ext>
            </a:extLst>
          </p:cNvPr>
          <p:cNvSpPr txBox="1"/>
          <p:nvPr/>
        </p:nvSpPr>
        <p:spPr>
          <a:xfrm>
            <a:off x="9041568" y="1905523"/>
            <a:ext cx="260551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6"/>
                </a:solidFill>
              </a:rPr>
              <a:t>Product D and Product E have similar Premiums Secured even though the Sum Assured for Product D is different (highly skewed)</a:t>
            </a:r>
          </a:p>
          <a:p>
            <a:endParaRPr lang="en-US" sz="1100" dirty="0">
              <a:solidFill>
                <a:schemeClr val="accent6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6"/>
                </a:solidFill>
              </a:rPr>
              <a:t>Assumption: Product E and Product A are designed where Product E to make it more accessible to wide range of clients (as Product E have more clients ranging from Q1 to Q4) 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C469D6EA-20E0-4F63-870D-F4270274C3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2815947"/>
              </p:ext>
            </p:extLst>
          </p:nvPr>
        </p:nvGraphicFramePr>
        <p:xfrm>
          <a:off x="9041568" y="3753136"/>
          <a:ext cx="3090864" cy="17254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B65C30F6-5288-655F-702D-67468654A7D1}"/>
              </a:ext>
            </a:extLst>
          </p:cNvPr>
          <p:cNvSpPr txBox="1"/>
          <p:nvPr/>
        </p:nvSpPr>
        <p:spPr>
          <a:xfrm>
            <a:off x="9078082" y="5473006"/>
            <a:ext cx="305435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accent6"/>
                </a:solidFill>
              </a:rPr>
              <a:t>Income Distribution: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900" dirty="0">
                <a:solidFill>
                  <a:schemeClr val="accent6"/>
                </a:solidFill>
              </a:rPr>
              <a:t>Q1: 25% of the overall percentile (when ordered)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900" dirty="0">
                <a:solidFill>
                  <a:schemeClr val="accent6"/>
                </a:solidFill>
              </a:rPr>
              <a:t>Q2: 50% of the overall percentile (when ordered)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900" dirty="0">
                <a:solidFill>
                  <a:schemeClr val="accent6"/>
                </a:solidFill>
              </a:rPr>
              <a:t>Q3: 75% of the overall percentile (when ordered)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900" dirty="0">
                <a:solidFill>
                  <a:schemeClr val="accent6"/>
                </a:solidFill>
              </a:rPr>
              <a:t>Q4: 100% of the overall percentile (when ordered)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542748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C05158A-95A2-C0F2-0981-62D42196CDF5}"/>
              </a:ext>
            </a:extLst>
          </p:cNvPr>
          <p:cNvSpPr/>
          <p:nvPr/>
        </p:nvSpPr>
        <p:spPr>
          <a:xfrm>
            <a:off x="0" y="-20574"/>
            <a:ext cx="12192000" cy="1206500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B49CE9-3582-9388-D602-A6252293A127}"/>
              </a:ext>
            </a:extLst>
          </p:cNvPr>
          <p:cNvSpPr txBox="1"/>
          <p:nvPr/>
        </p:nvSpPr>
        <p:spPr>
          <a:xfrm>
            <a:off x="203200" y="429782"/>
            <a:ext cx="956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With</a:t>
            </a:r>
            <a:r>
              <a:rPr lang="en-US" dirty="0">
                <a:solidFill>
                  <a:schemeClr val="bg1"/>
                </a:solidFill>
              </a:rPr>
              <a:t> the </a:t>
            </a:r>
            <a:r>
              <a:rPr lang="en-US" dirty="0">
                <a:solidFill>
                  <a:schemeClr val="accent1"/>
                </a:solidFill>
              </a:rPr>
              <a:t>Imbalance Segmentation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2B17A7-0773-08FD-36E6-EACE5DD0CA50}"/>
              </a:ext>
            </a:extLst>
          </p:cNvPr>
          <p:cNvSpPr txBox="1"/>
          <p:nvPr/>
        </p:nvSpPr>
        <p:spPr>
          <a:xfrm>
            <a:off x="0" y="6257836"/>
            <a:ext cx="1219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1100" dirty="0">
              <a:solidFill>
                <a:schemeClr val="accent6"/>
              </a:solidFill>
            </a:endParaRPr>
          </a:p>
          <a:p>
            <a:pPr algn="ctr"/>
            <a:r>
              <a:rPr lang="en-US" sz="1100" b="1" dirty="0">
                <a:solidFill>
                  <a:schemeClr val="accent6"/>
                </a:solidFill>
              </a:rPr>
              <a:t>Overall, imbalances occurred across all Product Types, where the range of % within the Product Type 20% - 25% </a:t>
            </a:r>
            <a:endParaRPr lang="en-US" sz="1100" dirty="0">
              <a:solidFill>
                <a:schemeClr val="accent6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44F3E1-6B31-2B40-25D2-27949D6D512A}"/>
              </a:ext>
            </a:extLst>
          </p:cNvPr>
          <p:cNvSpPr txBox="1"/>
          <p:nvPr/>
        </p:nvSpPr>
        <p:spPr>
          <a:xfrm>
            <a:off x="-1" y="1185926"/>
            <a:ext cx="3271101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/>
              <a:t>Policies Subscribed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F1D91C5-0532-DA50-348C-20AD76F06A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807451"/>
              </p:ext>
            </p:extLst>
          </p:nvPr>
        </p:nvGraphicFramePr>
        <p:xfrm>
          <a:off x="-1" y="1572738"/>
          <a:ext cx="12038030" cy="46850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33450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9CF8C-76EC-F1BE-2622-F31BBF2CE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9219EC-3453-F08C-9458-88A263D6B881}"/>
              </a:ext>
            </a:extLst>
          </p:cNvPr>
          <p:cNvCxnSpPr>
            <a:cxnSpLocks/>
          </p:cNvCxnSpPr>
          <p:nvPr/>
        </p:nvCxnSpPr>
        <p:spPr>
          <a:xfrm>
            <a:off x="0" y="4204355"/>
            <a:ext cx="12192000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09783492-E57D-0613-0843-2E30C4943E80}"/>
              </a:ext>
            </a:extLst>
          </p:cNvPr>
          <p:cNvSpPr/>
          <p:nvPr/>
        </p:nvSpPr>
        <p:spPr>
          <a:xfrm>
            <a:off x="0" y="-20574"/>
            <a:ext cx="12192000" cy="1206500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722884-8F9F-842A-BD53-4AA3641E49C8}"/>
              </a:ext>
            </a:extLst>
          </p:cNvPr>
          <p:cNvSpPr txBox="1"/>
          <p:nvPr/>
        </p:nvSpPr>
        <p:spPr>
          <a:xfrm>
            <a:off x="203200" y="429782"/>
            <a:ext cx="956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With</a:t>
            </a:r>
            <a:r>
              <a:rPr lang="en-US" dirty="0">
                <a:solidFill>
                  <a:schemeClr val="bg1"/>
                </a:solidFill>
              </a:rPr>
              <a:t> the </a:t>
            </a:r>
            <a:r>
              <a:rPr lang="en-US" dirty="0">
                <a:solidFill>
                  <a:schemeClr val="accent1"/>
                </a:solidFill>
              </a:rPr>
              <a:t>Imbalance Segmentation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146CE66-50FE-C3F8-9D43-EB208A4E6DFD}"/>
              </a:ext>
            </a:extLst>
          </p:cNvPr>
          <p:cNvGraphicFramePr>
            <a:graphicFrameLocks/>
          </p:cNvGraphicFramePr>
          <p:nvPr/>
        </p:nvGraphicFramePr>
        <p:xfrm>
          <a:off x="246995" y="1618618"/>
          <a:ext cx="5400000" cy="25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F5D234A-226A-70A0-23CF-2D52E17BE381}"/>
              </a:ext>
            </a:extLst>
          </p:cNvPr>
          <p:cNvSpPr txBox="1"/>
          <p:nvPr/>
        </p:nvSpPr>
        <p:spPr>
          <a:xfrm>
            <a:off x="5807687" y="1669755"/>
            <a:ext cx="6290396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1" dirty="0">
                <a:solidFill>
                  <a:schemeClr val="accent1"/>
                </a:solidFill>
              </a:rPr>
              <a:t>Premium High, Coverage High </a:t>
            </a:r>
            <a:r>
              <a:rPr lang="en-US" sz="1100" dirty="0">
                <a:solidFill>
                  <a:schemeClr val="accent6"/>
                </a:solidFill>
              </a:rPr>
              <a:t>and </a:t>
            </a:r>
            <a:r>
              <a:rPr lang="en-US" sz="1200" b="1" i="1" dirty="0">
                <a:solidFill>
                  <a:srgbClr val="7030A0"/>
                </a:solidFill>
              </a:rPr>
              <a:t>Premium Low, Coverage High </a:t>
            </a:r>
            <a:r>
              <a:rPr lang="en-US" sz="1100" dirty="0">
                <a:solidFill>
                  <a:schemeClr val="accent6"/>
                </a:solidFill>
              </a:rPr>
              <a:t>remained as the dominant segments across all Products Types</a:t>
            </a:r>
          </a:p>
          <a:p>
            <a:endParaRPr lang="en-US" sz="1100" dirty="0">
              <a:solidFill>
                <a:schemeClr val="accent6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6"/>
                </a:solidFill>
              </a:rPr>
              <a:t>Exceptionally large portion of</a:t>
            </a:r>
            <a:r>
              <a:rPr lang="en-US" sz="1200" dirty="0">
                <a:solidFill>
                  <a:schemeClr val="accent6"/>
                </a:solidFill>
              </a:rPr>
              <a:t> </a:t>
            </a:r>
            <a:r>
              <a:rPr lang="en-US" sz="1200" b="1" i="1" dirty="0">
                <a:solidFill>
                  <a:srgbClr val="7030A0"/>
                </a:solidFill>
              </a:rPr>
              <a:t>Premium Low, Coverage High</a:t>
            </a:r>
            <a:r>
              <a:rPr lang="en-US" sz="1400" b="1" i="1" dirty="0">
                <a:solidFill>
                  <a:srgbClr val="7030A0"/>
                </a:solidFill>
              </a:rPr>
              <a:t> </a:t>
            </a:r>
            <a:r>
              <a:rPr lang="en-US" sz="1100" dirty="0">
                <a:solidFill>
                  <a:schemeClr val="accent6"/>
                </a:solidFill>
              </a:rPr>
              <a:t>dominating the </a:t>
            </a:r>
            <a:r>
              <a:rPr lang="en-US" sz="1100" dirty="0">
                <a:solidFill>
                  <a:schemeClr val="accent6"/>
                </a:solidFill>
                <a:highlight>
                  <a:srgbClr val="FDA9C7"/>
                </a:highlight>
              </a:rPr>
              <a:t>Product C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accent6"/>
              </a:solidFill>
              <a:highlight>
                <a:srgbClr val="FDA9C7"/>
              </a:highlight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6"/>
                </a:solidFill>
              </a:rPr>
              <a:t>Amongst all Product categories, </a:t>
            </a:r>
            <a:r>
              <a:rPr lang="en-US" sz="1200" b="1" i="1" dirty="0">
                <a:solidFill>
                  <a:schemeClr val="accent5"/>
                </a:solidFill>
              </a:rPr>
              <a:t>Premium Low, Coverage Low </a:t>
            </a:r>
            <a:r>
              <a:rPr lang="en-US" sz="1100" dirty="0">
                <a:solidFill>
                  <a:schemeClr val="accent6"/>
                </a:solidFill>
              </a:rPr>
              <a:t>is most prominent in the </a:t>
            </a:r>
            <a:r>
              <a:rPr lang="en-US" sz="1100" dirty="0">
                <a:solidFill>
                  <a:schemeClr val="accent6"/>
                </a:solidFill>
                <a:highlight>
                  <a:srgbClr val="FDA9C7"/>
                </a:highlight>
              </a:rPr>
              <a:t>Product 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accent6"/>
              </a:solidFill>
              <a:highlight>
                <a:srgbClr val="FDA9C7"/>
              </a:highlight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6"/>
                </a:solidFill>
                <a:highlight>
                  <a:srgbClr val="FDA9C7"/>
                </a:highlight>
              </a:rPr>
              <a:t>Product E </a:t>
            </a:r>
            <a:r>
              <a:rPr lang="en-US" sz="1100" dirty="0">
                <a:solidFill>
                  <a:schemeClr val="accent6"/>
                </a:solidFill>
              </a:rPr>
              <a:t>and </a:t>
            </a:r>
            <a:r>
              <a:rPr lang="en-US" sz="1100" dirty="0">
                <a:solidFill>
                  <a:schemeClr val="accent6"/>
                </a:solidFill>
                <a:highlight>
                  <a:srgbClr val="FDA9C7"/>
                </a:highlight>
              </a:rPr>
              <a:t>Product A </a:t>
            </a:r>
            <a:r>
              <a:rPr lang="en-US" sz="1100" dirty="0">
                <a:solidFill>
                  <a:schemeClr val="accent6"/>
                </a:solidFill>
              </a:rPr>
              <a:t>has a similar distribution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accent6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accent6"/>
                </a:solidFill>
              </a:rPr>
              <a:t>Overall, across all product, the distribution of High Coverage segment is higher than Low Coverage segment</a:t>
            </a:r>
            <a:endParaRPr lang="en-US" sz="1100" dirty="0">
              <a:solidFill>
                <a:schemeClr val="accent6"/>
              </a:solidFill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E197D1F-85AA-80D4-4C11-3578C7A25455}"/>
              </a:ext>
            </a:extLst>
          </p:cNvPr>
          <p:cNvGraphicFramePr>
            <a:graphicFrameLocks/>
          </p:cNvGraphicFramePr>
          <p:nvPr/>
        </p:nvGraphicFramePr>
        <p:xfrm>
          <a:off x="6792000" y="4338000"/>
          <a:ext cx="5400000" cy="25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3EB4926-8201-4C11-DE9D-BEDBDC74A16D}"/>
              </a:ext>
            </a:extLst>
          </p:cNvPr>
          <p:cNvSpPr txBox="1"/>
          <p:nvPr/>
        </p:nvSpPr>
        <p:spPr>
          <a:xfrm>
            <a:off x="0" y="1185926"/>
            <a:ext cx="2132474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/>
              <a:t>Sum Assured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785F01-A4FD-D5E9-17C7-A8FA32E068F8}"/>
              </a:ext>
            </a:extLst>
          </p:cNvPr>
          <p:cNvSpPr txBox="1"/>
          <p:nvPr/>
        </p:nvSpPr>
        <p:spPr>
          <a:xfrm>
            <a:off x="0" y="4230259"/>
            <a:ext cx="2132474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/>
              <a:t>Premiums Secured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94C2E1-4A7F-4139-9FFF-7F16FAEC6B80}"/>
              </a:ext>
            </a:extLst>
          </p:cNvPr>
          <p:cNvSpPr txBox="1"/>
          <p:nvPr/>
        </p:nvSpPr>
        <p:spPr>
          <a:xfrm>
            <a:off x="322858" y="4708922"/>
            <a:ext cx="6290396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6"/>
                </a:solidFill>
              </a:rPr>
              <a:t>In contrast, </a:t>
            </a:r>
            <a:r>
              <a:rPr lang="en-US" sz="1200" b="1" i="1" dirty="0">
                <a:solidFill>
                  <a:schemeClr val="accent1"/>
                </a:solidFill>
              </a:rPr>
              <a:t>Premium High, Coverage High </a:t>
            </a:r>
            <a:r>
              <a:rPr lang="en-US" sz="1100" dirty="0"/>
              <a:t>and </a:t>
            </a:r>
            <a:r>
              <a:rPr lang="en-US" sz="1200" b="1" i="1" dirty="0">
                <a:solidFill>
                  <a:srgbClr val="FDA9C7"/>
                </a:solidFill>
              </a:rPr>
              <a:t>Premium High, Coverage Low </a:t>
            </a:r>
            <a:r>
              <a:rPr lang="en-US" sz="1100" dirty="0">
                <a:solidFill>
                  <a:schemeClr val="accent6"/>
                </a:solidFill>
              </a:rPr>
              <a:t>are two most dominant segments across all Product Types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accent6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6"/>
                </a:solidFill>
              </a:rPr>
              <a:t>More than 10% within each Product category have policyholders with the status of </a:t>
            </a:r>
            <a:r>
              <a:rPr lang="en-US" sz="1200" b="1" i="1" dirty="0">
                <a:solidFill>
                  <a:schemeClr val="accent5"/>
                </a:solidFill>
              </a:rPr>
              <a:t>Premium Low, Coverage Low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accent6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6"/>
                </a:solidFill>
                <a:highlight>
                  <a:srgbClr val="FDA9C7"/>
                </a:highlight>
              </a:rPr>
              <a:t>Product E </a:t>
            </a:r>
            <a:r>
              <a:rPr lang="en-US" sz="1100" dirty="0">
                <a:solidFill>
                  <a:schemeClr val="accent6"/>
                </a:solidFill>
              </a:rPr>
              <a:t>and </a:t>
            </a:r>
            <a:r>
              <a:rPr lang="en-US" sz="1100" dirty="0">
                <a:solidFill>
                  <a:schemeClr val="accent6"/>
                </a:solidFill>
                <a:highlight>
                  <a:srgbClr val="FDA9C7"/>
                </a:highlight>
              </a:rPr>
              <a:t>Product D</a:t>
            </a:r>
            <a:r>
              <a:rPr lang="en-US" sz="1100" dirty="0">
                <a:solidFill>
                  <a:schemeClr val="accent6"/>
                </a:solidFill>
              </a:rPr>
              <a:t> has a similar distribution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accent6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6"/>
                </a:solidFill>
                <a:highlight>
                  <a:srgbClr val="FDA9C7"/>
                </a:highlight>
              </a:rPr>
              <a:t>Product A </a:t>
            </a:r>
            <a:r>
              <a:rPr lang="en-US" sz="1100" dirty="0">
                <a:solidFill>
                  <a:schemeClr val="accent6"/>
                </a:solidFill>
              </a:rPr>
              <a:t>have one of the highest segment for </a:t>
            </a:r>
            <a:r>
              <a:rPr lang="en-US" sz="1200" b="1" i="1" dirty="0">
                <a:solidFill>
                  <a:srgbClr val="FDA9C7"/>
                </a:solidFill>
              </a:rPr>
              <a:t>Premium High, Coverage Low</a:t>
            </a:r>
            <a:endParaRPr lang="en-US" sz="1100" b="1" i="1" dirty="0">
              <a:solidFill>
                <a:srgbClr val="FDA9C7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accent6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accent6"/>
                </a:solidFill>
              </a:rPr>
              <a:t>Overall, the distribution of High Premiums segment that are guaranteed revenue is higher than Low Premiums segment</a:t>
            </a:r>
            <a:endParaRPr lang="en-US" sz="11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2973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3501FAEE-EA1F-48C5-7BFC-1381BE4861B9}"/>
              </a:ext>
            </a:extLst>
          </p:cNvPr>
          <p:cNvSpPr/>
          <p:nvPr/>
        </p:nvSpPr>
        <p:spPr>
          <a:xfrm>
            <a:off x="0" y="3906072"/>
            <a:ext cx="12192000" cy="2951928"/>
          </a:xfrm>
          <a:prstGeom prst="rect">
            <a:avLst/>
          </a:prstGeom>
          <a:solidFill>
            <a:srgbClr val="7933FF">
              <a:alpha val="20000"/>
            </a:srgb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13154EE-5D7E-96A8-7959-496A48DA77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2196223"/>
              </p:ext>
            </p:extLst>
          </p:nvPr>
        </p:nvGraphicFramePr>
        <p:xfrm>
          <a:off x="737116" y="1224125"/>
          <a:ext cx="8074726" cy="2651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485273FF-D3AD-B50C-93FE-499F9AD3B3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6308403"/>
              </p:ext>
            </p:extLst>
          </p:nvPr>
        </p:nvGraphicFramePr>
        <p:xfrm>
          <a:off x="6864284" y="4426966"/>
          <a:ext cx="4846282" cy="18198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413831F-60BE-2140-35CE-95CBF830CE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2135193"/>
              </p:ext>
            </p:extLst>
          </p:nvPr>
        </p:nvGraphicFramePr>
        <p:xfrm>
          <a:off x="263330" y="4428938"/>
          <a:ext cx="4846282" cy="18198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C11155A7-CCA7-E961-BADB-CFF12BA2FF5B}"/>
              </a:ext>
            </a:extLst>
          </p:cNvPr>
          <p:cNvSpPr/>
          <p:nvPr/>
        </p:nvSpPr>
        <p:spPr>
          <a:xfrm>
            <a:off x="0" y="-20574"/>
            <a:ext cx="12192000" cy="1206500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CDEC80-7872-B3E4-0152-8A17A02015BF}"/>
              </a:ext>
            </a:extLst>
          </p:cNvPr>
          <p:cNvSpPr txBox="1"/>
          <p:nvPr/>
        </p:nvSpPr>
        <p:spPr>
          <a:xfrm>
            <a:off x="9067569" y="1416717"/>
            <a:ext cx="2132474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/>
              <a:t>Sustainable Growth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4F5FF9-5A8A-6041-27E0-547F1BB51DA3}"/>
              </a:ext>
            </a:extLst>
          </p:cNvPr>
          <p:cNvSpPr/>
          <p:nvPr/>
        </p:nvSpPr>
        <p:spPr>
          <a:xfrm>
            <a:off x="7929019" y="1934079"/>
            <a:ext cx="94268" cy="1036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25D788-9E04-187B-C5BD-E5D333C1EF7E}"/>
              </a:ext>
            </a:extLst>
          </p:cNvPr>
          <p:cNvSpPr/>
          <p:nvPr/>
        </p:nvSpPr>
        <p:spPr>
          <a:xfrm>
            <a:off x="6817150" y="2605287"/>
            <a:ext cx="94268" cy="1036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F1F1647-4DD5-53F1-7145-82E5EB872828}"/>
              </a:ext>
            </a:extLst>
          </p:cNvPr>
          <p:cNvCxnSpPr>
            <a:cxnSpLocks/>
          </p:cNvCxnSpPr>
          <p:nvPr/>
        </p:nvCxnSpPr>
        <p:spPr>
          <a:xfrm flipV="1">
            <a:off x="6961557" y="2019254"/>
            <a:ext cx="988244" cy="586033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39CD8BC-0917-58C6-0503-7BBD80B1C087}"/>
              </a:ext>
            </a:extLst>
          </p:cNvPr>
          <p:cNvSpPr txBox="1"/>
          <p:nvPr/>
        </p:nvSpPr>
        <p:spPr>
          <a:xfrm>
            <a:off x="6081512" y="1599484"/>
            <a:ext cx="1750800" cy="4154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050" u="sng" dirty="0">
                <a:solidFill>
                  <a:srgbClr val="FF0000"/>
                </a:solidFill>
              </a:rPr>
              <a:t>May-20 to June-20 (</a:t>
            </a:r>
            <a:r>
              <a:rPr lang="en-US" sz="1050" i="1" u="sng" dirty="0">
                <a:solidFill>
                  <a:srgbClr val="FF0000"/>
                </a:solidFill>
              </a:rPr>
              <a:t>MoM%)</a:t>
            </a:r>
            <a:endParaRPr lang="en-US" sz="1050" u="sng" dirty="0">
              <a:solidFill>
                <a:srgbClr val="FF0000"/>
              </a:solidFill>
            </a:endParaRPr>
          </a:p>
          <a:p>
            <a:r>
              <a:rPr lang="en-US" sz="1050" dirty="0"/>
              <a:t>+144.39%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71F5DB-B085-4E38-DBC5-D3C38918010C}"/>
              </a:ext>
            </a:extLst>
          </p:cNvPr>
          <p:cNvSpPr/>
          <p:nvPr/>
        </p:nvSpPr>
        <p:spPr>
          <a:xfrm>
            <a:off x="5652194" y="2905797"/>
            <a:ext cx="94268" cy="10369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C94763-2ED6-F04A-E65E-9D339EE8C147}"/>
              </a:ext>
            </a:extLst>
          </p:cNvPr>
          <p:cNvSpPr/>
          <p:nvPr/>
        </p:nvSpPr>
        <p:spPr>
          <a:xfrm>
            <a:off x="4472763" y="2522266"/>
            <a:ext cx="94268" cy="10369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155ABCC-BB4D-0B4A-2BEF-544D6238DFD5}"/>
              </a:ext>
            </a:extLst>
          </p:cNvPr>
          <p:cNvCxnSpPr>
            <a:cxnSpLocks/>
          </p:cNvCxnSpPr>
          <p:nvPr/>
        </p:nvCxnSpPr>
        <p:spPr>
          <a:xfrm>
            <a:off x="4567031" y="2618089"/>
            <a:ext cx="1085163" cy="287708"/>
          </a:xfrm>
          <a:prstGeom prst="line">
            <a:avLst/>
          </a:prstGeom>
          <a:ln>
            <a:solidFill>
              <a:schemeClr val="accent5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1AF90CE-386F-8AA6-EBDE-A73D1A4A894B}"/>
              </a:ext>
            </a:extLst>
          </p:cNvPr>
          <p:cNvSpPr txBox="1"/>
          <p:nvPr/>
        </p:nvSpPr>
        <p:spPr>
          <a:xfrm>
            <a:off x="4060638" y="1987937"/>
            <a:ext cx="1670650" cy="41549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050" u="sng" dirty="0">
                <a:solidFill>
                  <a:srgbClr val="FF0000"/>
                </a:solidFill>
              </a:rPr>
              <a:t>Mar-20 to Apr-20 (</a:t>
            </a:r>
            <a:r>
              <a:rPr lang="en-US" sz="1050" i="1" u="sng" dirty="0">
                <a:solidFill>
                  <a:srgbClr val="FF0000"/>
                </a:solidFill>
              </a:rPr>
              <a:t>MoM%)</a:t>
            </a:r>
            <a:endParaRPr lang="en-US" sz="1050" u="sng" dirty="0">
              <a:solidFill>
                <a:srgbClr val="FF0000"/>
              </a:solidFill>
            </a:endParaRPr>
          </a:p>
          <a:p>
            <a:r>
              <a:rPr lang="en-US" sz="1050" dirty="0"/>
              <a:t>-49.00%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71E637-38B5-D407-A54E-0AA444B531F9}"/>
              </a:ext>
            </a:extLst>
          </p:cNvPr>
          <p:cNvSpPr txBox="1"/>
          <p:nvPr/>
        </p:nvSpPr>
        <p:spPr>
          <a:xfrm>
            <a:off x="9041568" y="1905523"/>
            <a:ext cx="2605518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accent6"/>
                </a:solidFill>
              </a:rPr>
              <a:t>Throughout all policies, the Total Premiums Earned:</a:t>
            </a:r>
          </a:p>
          <a:p>
            <a:endParaRPr lang="en-US" sz="1100" dirty="0">
              <a:solidFill>
                <a:schemeClr val="accent6"/>
              </a:solidFill>
            </a:endParaRPr>
          </a:p>
          <a:p>
            <a:r>
              <a:rPr lang="en-US" sz="1400" dirty="0">
                <a:solidFill>
                  <a:schemeClr val="accent1"/>
                </a:solidFill>
              </a:rPr>
              <a:t>Type E </a:t>
            </a:r>
            <a:r>
              <a:rPr lang="en-US" sz="1100" dirty="0">
                <a:solidFill>
                  <a:schemeClr val="accent6"/>
                </a:solidFill>
              </a:rPr>
              <a:t>RM 27.00 mil</a:t>
            </a:r>
          </a:p>
          <a:p>
            <a:endParaRPr lang="en-US" sz="1100" dirty="0">
              <a:solidFill>
                <a:schemeClr val="accent6"/>
              </a:solidFill>
            </a:endParaRPr>
          </a:p>
          <a:p>
            <a:r>
              <a:rPr lang="en-US" sz="1400" dirty="0">
                <a:solidFill>
                  <a:srgbClr val="7030A0"/>
                </a:solidFill>
              </a:rPr>
              <a:t>Type A </a:t>
            </a:r>
            <a:r>
              <a:rPr lang="en-US" sz="1100" dirty="0">
                <a:solidFill>
                  <a:schemeClr val="accent6"/>
                </a:solidFill>
              </a:rPr>
              <a:t>RM 14.29 mil</a:t>
            </a:r>
          </a:p>
          <a:p>
            <a:endParaRPr lang="en-US" sz="1100" dirty="0">
              <a:solidFill>
                <a:schemeClr val="accent6"/>
              </a:solidFill>
            </a:endParaRPr>
          </a:p>
          <a:p>
            <a:r>
              <a:rPr lang="en-US" sz="1400" dirty="0">
                <a:solidFill>
                  <a:srgbClr val="FDA9C7"/>
                </a:solidFill>
              </a:rPr>
              <a:t>Type C </a:t>
            </a:r>
            <a:r>
              <a:rPr lang="en-US" sz="1100" dirty="0">
                <a:solidFill>
                  <a:schemeClr val="accent6"/>
                </a:solidFill>
              </a:rPr>
              <a:t>RM 222.53 k</a:t>
            </a:r>
          </a:p>
          <a:p>
            <a:endParaRPr lang="en-US" sz="1100" dirty="0">
              <a:solidFill>
                <a:schemeClr val="accent6"/>
              </a:solidFill>
            </a:endParaRPr>
          </a:p>
          <a:p>
            <a:r>
              <a:rPr lang="en-US" sz="1400" dirty="0">
                <a:solidFill>
                  <a:schemeClr val="accent3"/>
                </a:solidFill>
              </a:rPr>
              <a:t>Type D </a:t>
            </a:r>
            <a:r>
              <a:rPr lang="en-US" sz="1100" dirty="0">
                <a:solidFill>
                  <a:schemeClr val="accent6"/>
                </a:solidFill>
              </a:rPr>
              <a:t>RM 218.32 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5972FA-255A-BCBE-E589-44DD37277137}"/>
              </a:ext>
            </a:extLst>
          </p:cNvPr>
          <p:cNvSpPr txBox="1"/>
          <p:nvPr/>
        </p:nvSpPr>
        <p:spPr>
          <a:xfrm>
            <a:off x="4783136" y="3969960"/>
            <a:ext cx="267323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/>
              <a:t>Identifying the losses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A1DD0B-ED14-FE02-39EA-DFB5289E2A0B}"/>
              </a:ext>
            </a:extLst>
          </p:cNvPr>
          <p:cNvSpPr txBox="1"/>
          <p:nvPr/>
        </p:nvSpPr>
        <p:spPr>
          <a:xfrm>
            <a:off x="221656" y="6378325"/>
            <a:ext cx="4887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Overall, RM 1.16 mil premiums are lost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96B2D5-7335-AE7B-993A-B4D3D9B3CBC1}"/>
              </a:ext>
            </a:extLst>
          </p:cNvPr>
          <p:cNvSpPr txBox="1"/>
          <p:nvPr/>
        </p:nvSpPr>
        <p:spPr>
          <a:xfrm>
            <a:off x="6808988" y="6407687"/>
            <a:ext cx="38389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C00000"/>
                </a:solidFill>
              </a:rPr>
              <a:t>Narrowing down on which products contributed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2D585C-7159-BC35-34AE-8922159F6000}"/>
              </a:ext>
            </a:extLst>
          </p:cNvPr>
          <p:cNvSpPr txBox="1"/>
          <p:nvPr/>
        </p:nvSpPr>
        <p:spPr>
          <a:xfrm>
            <a:off x="203200" y="429782"/>
            <a:ext cx="956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Premiums Earned </a:t>
            </a:r>
            <a:r>
              <a:rPr lang="en-US" dirty="0">
                <a:solidFill>
                  <a:schemeClr val="bg1"/>
                </a:solidFill>
              </a:rPr>
              <a:t>and </a:t>
            </a:r>
            <a:r>
              <a:rPr lang="en-US" dirty="0">
                <a:solidFill>
                  <a:schemeClr val="accent1"/>
                </a:solidFill>
              </a:rPr>
              <a:t>Premiums Losses</a:t>
            </a:r>
          </a:p>
        </p:txBody>
      </p:sp>
    </p:spTree>
    <p:extLst>
      <p:ext uri="{BB962C8B-B14F-4D97-AF65-F5344CB8AC3E}">
        <p14:creationId xmlns:p14="http://schemas.microsoft.com/office/powerpoint/2010/main" val="891356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139E4D4-372C-06C0-E53C-CD40C7E28F1D}"/>
              </a:ext>
            </a:extLst>
          </p:cNvPr>
          <p:cNvSpPr txBox="1"/>
          <p:nvPr/>
        </p:nvSpPr>
        <p:spPr>
          <a:xfrm>
            <a:off x="341500" y="1636282"/>
            <a:ext cx="11164699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/>
                </a:solidFill>
              </a:rPr>
              <a:t>Situations that leads to losses:</a:t>
            </a:r>
          </a:p>
          <a:p>
            <a:endParaRPr lang="en-US" dirty="0">
              <a:solidFill>
                <a:schemeClr val="accent6"/>
              </a:solidFill>
            </a:endParaRPr>
          </a:p>
          <a:p>
            <a:pPr marL="400050" indent="-400050">
              <a:buFont typeface="+mj-lt"/>
              <a:buAutoNum type="romanLcPeriod"/>
            </a:pPr>
            <a:r>
              <a:rPr lang="en-US" dirty="0">
                <a:solidFill>
                  <a:schemeClr val="accent6"/>
                </a:solidFill>
              </a:rPr>
              <a:t>Cancelled During Cooling Off Period</a:t>
            </a:r>
          </a:p>
          <a:p>
            <a:pPr lvl="1"/>
            <a:r>
              <a:rPr lang="en-US" sz="1600" i="1" dirty="0">
                <a:solidFill>
                  <a:schemeClr val="accent6"/>
                </a:solidFill>
              </a:rPr>
              <a:t>Premiums Paid returned in full</a:t>
            </a:r>
          </a:p>
          <a:p>
            <a:pPr lvl="1"/>
            <a:endParaRPr lang="en-US" dirty="0">
              <a:solidFill>
                <a:schemeClr val="accent6"/>
              </a:solidFill>
            </a:endParaRPr>
          </a:p>
          <a:p>
            <a:pPr marL="400050" indent="-400050">
              <a:buFont typeface="+mj-lt"/>
              <a:buAutoNum type="romanLcPeriod"/>
            </a:pPr>
            <a:r>
              <a:rPr lang="en-US" dirty="0">
                <a:solidFill>
                  <a:schemeClr val="accent6"/>
                </a:solidFill>
              </a:rPr>
              <a:t>Non-Disclosure Cancellation</a:t>
            </a:r>
          </a:p>
          <a:p>
            <a:pPr lvl="1"/>
            <a:r>
              <a:rPr lang="en-US" sz="1600" i="1" dirty="0">
                <a:solidFill>
                  <a:schemeClr val="accent6"/>
                </a:solidFill>
              </a:rPr>
              <a:t>Premiums Paid can be returned if the policy is voided ab </a:t>
            </a:r>
            <a:r>
              <a:rPr lang="en-US" sz="1600" i="1" dirty="0" err="1">
                <a:solidFill>
                  <a:schemeClr val="accent6"/>
                </a:solidFill>
              </a:rPr>
              <a:t>inito</a:t>
            </a:r>
            <a:r>
              <a:rPr lang="en-US" sz="1600" i="1" dirty="0">
                <a:solidFill>
                  <a:schemeClr val="accent6"/>
                </a:solidFill>
              </a:rPr>
              <a:t> (from the beginning)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	</a:t>
            </a:r>
          </a:p>
          <a:p>
            <a:pPr marL="400050" indent="-400050">
              <a:buFont typeface="+mj-lt"/>
              <a:buAutoNum type="romanLcPeriod"/>
            </a:pPr>
            <a:r>
              <a:rPr lang="en-US" dirty="0">
                <a:solidFill>
                  <a:schemeClr val="accent6"/>
                </a:solidFill>
              </a:rPr>
              <a:t>Surrendered</a:t>
            </a:r>
          </a:p>
          <a:p>
            <a:pPr lvl="1"/>
            <a:r>
              <a:rPr lang="en-US" sz="1600" i="1" dirty="0">
                <a:solidFill>
                  <a:schemeClr val="accent6"/>
                </a:solidFill>
              </a:rPr>
              <a:t>Client may receive cash surrendered value (less than the total Premiums Paid)</a:t>
            </a:r>
          </a:p>
          <a:p>
            <a:pPr lvl="1"/>
            <a:endParaRPr lang="en-US" sz="1600" i="1" dirty="0">
              <a:solidFill>
                <a:schemeClr val="accent6"/>
              </a:solidFill>
            </a:endParaRPr>
          </a:p>
          <a:p>
            <a:pPr marL="400050" indent="-400050">
              <a:buFont typeface="+mj-lt"/>
              <a:buAutoNum type="romanLcPeriod"/>
            </a:pPr>
            <a:r>
              <a:rPr lang="en-US" dirty="0">
                <a:solidFill>
                  <a:schemeClr val="accent6"/>
                </a:solidFill>
              </a:rPr>
              <a:t>Auto-Surrendered</a:t>
            </a:r>
          </a:p>
          <a:p>
            <a:pPr lvl="1"/>
            <a:r>
              <a:rPr lang="en-US" sz="1600" i="1" dirty="0">
                <a:solidFill>
                  <a:schemeClr val="accent6"/>
                </a:solidFill>
              </a:rPr>
              <a:t>Clients may receive cash surrendered value (not a full refund of the total Premiums Paid)</a:t>
            </a:r>
          </a:p>
          <a:p>
            <a:pPr marL="400050" indent="-400050">
              <a:buFont typeface="+mj-lt"/>
              <a:buAutoNum type="romanLcPeriod"/>
            </a:pPr>
            <a:endParaRPr lang="en-US" sz="1600" i="1" dirty="0">
              <a:solidFill>
                <a:schemeClr val="accent6"/>
              </a:solidFill>
            </a:endParaRPr>
          </a:p>
          <a:p>
            <a:r>
              <a:rPr lang="en-US" dirty="0">
                <a:solidFill>
                  <a:schemeClr val="accent5"/>
                </a:solidFill>
              </a:rPr>
              <a:t>These are the assumptions of the “Premiums Losses”…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4166B8-BE9D-42FF-A70D-9D5D36326F37}"/>
              </a:ext>
            </a:extLst>
          </p:cNvPr>
          <p:cNvSpPr/>
          <p:nvPr/>
        </p:nvSpPr>
        <p:spPr>
          <a:xfrm>
            <a:off x="0" y="-20574"/>
            <a:ext cx="12192000" cy="1206500"/>
          </a:xfrm>
          <a:prstGeom prst="rect">
            <a:avLst/>
          </a:prstGeom>
          <a:solidFill>
            <a:srgbClr val="05192D"/>
          </a:solidFill>
          <a:ln>
            <a:solidFill>
              <a:schemeClr val="accent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140A1E-9140-2370-F0B3-E31B966FB1EF}"/>
              </a:ext>
            </a:extLst>
          </p:cNvPr>
          <p:cNvSpPr txBox="1"/>
          <p:nvPr/>
        </p:nvSpPr>
        <p:spPr>
          <a:xfrm>
            <a:off x="203200" y="429782"/>
            <a:ext cx="956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Assumptions</a:t>
            </a:r>
            <a:r>
              <a:rPr lang="en-US" dirty="0">
                <a:solidFill>
                  <a:schemeClr val="bg1"/>
                </a:solidFill>
              </a:rPr>
              <a:t> on the Premiums Losses</a:t>
            </a:r>
          </a:p>
        </p:txBody>
      </p:sp>
    </p:spTree>
    <p:extLst>
      <p:ext uri="{BB962C8B-B14F-4D97-AF65-F5344CB8AC3E}">
        <p14:creationId xmlns:p14="http://schemas.microsoft.com/office/powerpoint/2010/main" val="1695272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11155A7-CCA7-E961-BADB-CFF12BA2FF5B}"/>
              </a:ext>
            </a:extLst>
          </p:cNvPr>
          <p:cNvSpPr/>
          <p:nvPr/>
        </p:nvSpPr>
        <p:spPr>
          <a:xfrm>
            <a:off x="0" y="-20574"/>
            <a:ext cx="12192000" cy="1206500"/>
          </a:xfrm>
          <a:prstGeom prst="rect">
            <a:avLst/>
          </a:prstGeom>
          <a:solidFill>
            <a:srgbClr val="05192D"/>
          </a:solidFill>
          <a:ln>
            <a:solidFill>
              <a:schemeClr val="accent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2D585C-7159-BC35-34AE-8922159F6000}"/>
              </a:ext>
            </a:extLst>
          </p:cNvPr>
          <p:cNvSpPr txBox="1"/>
          <p:nvPr/>
        </p:nvSpPr>
        <p:spPr>
          <a:xfrm>
            <a:off x="203200" y="429782"/>
            <a:ext cx="956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Premium Losses </a:t>
            </a:r>
            <a:r>
              <a:rPr lang="en-US" dirty="0">
                <a:solidFill>
                  <a:schemeClr val="bg1"/>
                </a:solidFill>
              </a:rPr>
              <a:t>with Imbalance Segmentation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5D8F7-D035-99BA-2A03-945E69967B77}"/>
              </a:ext>
            </a:extLst>
          </p:cNvPr>
          <p:cNvSpPr txBox="1"/>
          <p:nvPr/>
        </p:nvSpPr>
        <p:spPr>
          <a:xfrm>
            <a:off x="8369301" y="1471182"/>
            <a:ext cx="3746499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Filtering insurance plans whose policies have premiums considered as loss to the organization tells us that…</a:t>
            </a:r>
          </a:p>
          <a:p>
            <a:endParaRPr lang="en-US" sz="1400" dirty="0">
              <a:solidFill>
                <a:srgbClr val="C00000"/>
              </a:solidFill>
            </a:endParaRPr>
          </a:p>
          <a:p>
            <a:r>
              <a:rPr lang="en-US" sz="1400" u="sng" dirty="0">
                <a:solidFill>
                  <a:srgbClr val="C00000"/>
                </a:solidFill>
              </a:rPr>
              <a:t>The major contributor to the Premium Losses for Product A:</a:t>
            </a:r>
          </a:p>
          <a:p>
            <a:r>
              <a:rPr lang="en-US" sz="1600" b="1" i="1" dirty="0">
                <a:solidFill>
                  <a:srgbClr val="FDA9C7"/>
                </a:solidFill>
              </a:rPr>
              <a:t>Premium High, Coverage 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C00000"/>
              </a:solidFill>
            </a:endParaRPr>
          </a:p>
          <a:p>
            <a:r>
              <a:rPr lang="en-US" sz="1400" u="sng" dirty="0">
                <a:solidFill>
                  <a:srgbClr val="C00000"/>
                </a:solidFill>
              </a:rPr>
              <a:t>The major contributor to the Premium Losses for Product E:</a:t>
            </a:r>
          </a:p>
          <a:p>
            <a:r>
              <a:rPr lang="en-US" sz="1600" b="1" i="1" dirty="0">
                <a:solidFill>
                  <a:schemeClr val="accent1"/>
                </a:solidFill>
              </a:rPr>
              <a:t>Premium High, Coverage High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49781C2-D140-68F2-A828-3E7F359522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6773644"/>
              </p:ext>
            </p:extLst>
          </p:nvPr>
        </p:nvGraphicFramePr>
        <p:xfrm>
          <a:off x="0" y="1185926"/>
          <a:ext cx="8191893" cy="56720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66279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person and person shaking hands">
            <a:extLst>
              <a:ext uri="{FF2B5EF4-FFF2-40B4-BE49-F238E27FC236}">
                <a16:creationId xmlns:a16="http://schemas.microsoft.com/office/drawing/2014/main" id="{3B682FEF-C3A0-798E-A295-50A395EA04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5" t="20428" b="23168"/>
          <a:stretch/>
        </p:blipFill>
        <p:spPr>
          <a:xfrm>
            <a:off x="-256000" y="-203200"/>
            <a:ext cx="12704000" cy="5041900"/>
          </a:xfrm>
          <a:prstGeom prst="rect">
            <a:avLst/>
          </a:prstGeom>
          <a:solidFill>
            <a:schemeClr val="accent6"/>
          </a:solidFill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976739-697E-5791-964D-B962F4FADF76}"/>
              </a:ext>
            </a:extLst>
          </p:cNvPr>
          <p:cNvSpPr txBox="1"/>
          <p:nvPr/>
        </p:nvSpPr>
        <p:spPr>
          <a:xfrm>
            <a:off x="3951777" y="2679700"/>
            <a:ext cx="4486036" cy="120032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Root Causes Analysis</a:t>
            </a:r>
          </a:p>
          <a:p>
            <a:pPr algn="ctr"/>
            <a:r>
              <a:rPr lang="en-US" sz="3600" dirty="0">
                <a:solidFill>
                  <a:schemeClr val="bg1"/>
                </a:solidFill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2788738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BDA5E9-2CFC-8EAC-D558-002147DA263F}"/>
              </a:ext>
            </a:extLst>
          </p:cNvPr>
          <p:cNvSpPr/>
          <p:nvPr/>
        </p:nvSpPr>
        <p:spPr>
          <a:xfrm>
            <a:off x="0" y="-20574"/>
            <a:ext cx="12192000" cy="1206500"/>
          </a:xfrm>
          <a:prstGeom prst="rect">
            <a:avLst/>
          </a:prstGeom>
          <a:solidFill>
            <a:srgbClr val="05192D"/>
          </a:solidFill>
          <a:ln>
            <a:solidFill>
              <a:schemeClr val="accent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1277F9-0BF0-6657-EECE-E0892BD6389A}"/>
              </a:ext>
            </a:extLst>
          </p:cNvPr>
          <p:cNvSpPr txBox="1"/>
          <p:nvPr/>
        </p:nvSpPr>
        <p:spPr>
          <a:xfrm>
            <a:off x="203200" y="429782"/>
            <a:ext cx="956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Using  </a:t>
            </a:r>
            <a:r>
              <a:rPr lang="en-US" dirty="0">
                <a:solidFill>
                  <a:schemeClr val="accent1"/>
                </a:solidFill>
              </a:rPr>
              <a:t>Tree Decomposition Technique </a:t>
            </a:r>
            <a:r>
              <a:rPr lang="en-US" dirty="0">
                <a:solidFill>
                  <a:schemeClr val="bg1"/>
                </a:solidFill>
              </a:rPr>
              <a:t>to </a:t>
            </a:r>
            <a:r>
              <a:rPr lang="en-US" dirty="0">
                <a:solidFill>
                  <a:schemeClr val="accent1"/>
                </a:solidFill>
              </a:rPr>
              <a:t>Identify which variables lead to Premium Losses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68185E4-5FE3-E0F4-0FB6-23E426FFC892}"/>
              </a:ext>
            </a:extLst>
          </p:cNvPr>
          <p:cNvGrpSpPr/>
          <p:nvPr/>
        </p:nvGrpSpPr>
        <p:grpSpPr>
          <a:xfrm>
            <a:off x="5883209" y="1788171"/>
            <a:ext cx="193255" cy="4640047"/>
            <a:chOff x="5883209" y="1788171"/>
            <a:chExt cx="193255" cy="4640047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BF7AEA2-3163-652F-5A19-EAA65AC321F1}"/>
                </a:ext>
              </a:extLst>
            </p:cNvPr>
            <p:cNvCxnSpPr/>
            <p:nvPr/>
          </p:nvCxnSpPr>
          <p:spPr>
            <a:xfrm>
              <a:off x="5983337" y="1856218"/>
              <a:ext cx="0" cy="4572000"/>
            </a:xfrm>
            <a:prstGeom prst="straightConnector1">
              <a:avLst/>
            </a:prstGeom>
            <a:ln>
              <a:solidFill>
                <a:schemeClr val="accent6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5623DD1-5F05-470C-07F4-E450FD331DB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83209" y="1788171"/>
              <a:ext cx="193255" cy="216000"/>
            </a:xfrm>
            <a:prstGeom prst="ellipse">
              <a:avLst/>
            </a:prstGeom>
            <a:solidFill>
              <a:schemeClr val="accent6">
                <a:lumMod val="10000"/>
                <a:lumOff val="9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88E5FF2-980A-BB49-F9EB-C1F0EF305291}"/>
              </a:ext>
            </a:extLst>
          </p:cNvPr>
          <p:cNvSpPr txBox="1"/>
          <p:nvPr/>
        </p:nvSpPr>
        <p:spPr>
          <a:xfrm>
            <a:off x="6095999" y="1730803"/>
            <a:ext cx="5218480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u="sng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variable 1</a:t>
            </a:r>
          </a:p>
          <a:p>
            <a:r>
              <a:rPr lang="en-US" sz="2800" dirty="0"/>
              <a:t>Payment Mode 12 (87%)</a:t>
            </a:r>
            <a:r>
              <a:rPr lang="en-US" sz="1200" dirty="0">
                <a:solidFill>
                  <a:schemeClr val="accent5">
                    <a:lumMod val="50000"/>
                  </a:schemeClr>
                </a:solidFill>
              </a:rPr>
              <a:t>out of RM 1,158,828</a:t>
            </a:r>
            <a:endParaRPr lang="en-US" sz="2800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sz="14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Payment Mode = 12, where premiums are paid only once a year</a:t>
            </a:r>
          </a:p>
          <a:p>
            <a:r>
              <a:rPr lang="en-US" sz="14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contributes RM 1,008,048  </a:t>
            </a:r>
            <a:endParaRPr lang="en-US" sz="1600" dirty="0">
              <a:solidFill>
                <a:schemeClr val="accent6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7EC4E2-E3B1-E750-9D5F-8CEDABBA912F}"/>
              </a:ext>
            </a:extLst>
          </p:cNvPr>
          <p:cNvSpPr txBox="1"/>
          <p:nvPr/>
        </p:nvSpPr>
        <p:spPr>
          <a:xfrm>
            <a:off x="2867167" y="1217968"/>
            <a:ext cx="6457665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Out of RM 1,158,828 Premiums Losses…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9BF5EF-D2CF-5AF8-20E7-DC75E451233F}"/>
              </a:ext>
            </a:extLst>
          </p:cNvPr>
          <p:cNvSpPr txBox="1"/>
          <p:nvPr/>
        </p:nvSpPr>
        <p:spPr>
          <a:xfrm>
            <a:off x="73623" y="2300189"/>
            <a:ext cx="5660589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u="sng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variable 2</a:t>
            </a:r>
          </a:p>
          <a:p>
            <a:pPr algn="r"/>
            <a:r>
              <a:rPr lang="en-US" sz="2800" dirty="0"/>
              <a:t>Insurance Product E (81%)</a:t>
            </a:r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accent5">
                    <a:lumMod val="50000"/>
                  </a:schemeClr>
                </a:solidFill>
              </a:rPr>
              <a:t>out of RM 1,008,048</a:t>
            </a:r>
            <a:endParaRPr lang="en-US" sz="1200" dirty="0"/>
          </a:p>
          <a:p>
            <a:pPr algn="r"/>
            <a:r>
              <a:rPr lang="en-US" sz="14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Insurance Product E, one of the most chosen</a:t>
            </a:r>
          </a:p>
          <a:p>
            <a:pPr algn="r"/>
            <a:r>
              <a:rPr lang="en-US" sz="14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policy out of all product offerings contributes RM 821,280</a:t>
            </a:r>
            <a:endParaRPr lang="en-US" sz="1600" dirty="0">
              <a:solidFill>
                <a:schemeClr val="accent6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61ECA9-F90D-EB93-09CF-5501677BEB4E}"/>
              </a:ext>
            </a:extLst>
          </p:cNvPr>
          <p:cNvSpPr txBox="1"/>
          <p:nvPr/>
        </p:nvSpPr>
        <p:spPr>
          <a:xfrm>
            <a:off x="6095999" y="3141552"/>
            <a:ext cx="49267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u="sng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variable 3</a:t>
            </a:r>
          </a:p>
          <a:p>
            <a:r>
              <a:rPr lang="en-US" sz="2800" dirty="0"/>
              <a:t>Marital Status M (68%) </a:t>
            </a:r>
            <a:r>
              <a:rPr lang="en-US" sz="1200" dirty="0">
                <a:solidFill>
                  <a:schemeClr val="accent5">
                    <a:lumMod val="50000"/>
                  </a:schemeClr>
                </a:solidFill>
              </a:rPr>
              <a:t>out of RM 821,280</a:t>
            </a:r>
            <a:endParaRPr lang="en-US" sz="2800" dirty="0"/>
          </a:p>
          <a:p>
            <a:r>
              <a:rPr lang="en-US" sz="14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Married policyholders contributes RM 560,472</a:t>
            </a:r>
            <a:endParaRPr lang="en-US" sz="1600" dirty="0">
              <a:solidFill>
                <a:schemeClr val="accent6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53DDD4-DE87-1A8E-BFAD-20DEA04B5B69}"/>
              </a:ext>
            </a:extLst>
          </p:cNvPr>
          <p:cNvSpPr txBox="1"/>
          <p:nvPr/>
        </p:nvSpPr>
        <p:spPr>
          <a:xfrm>
            <a:off x="1495704" y="3843827"/>
            <a:ext cx="43316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u="sng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variable 4</a:t>
            </a:r>
          </a:p>
          <a:p>
            <a:pPr algn="r"/>
            <a:r>
              <a:rPr lang="en-US" sz="2800" dirty="0"/>
              <a:t>Gender Male(54%) </a:t>
            </a:r>
            <a:r>
              <a:rPr lang="en-US" sz="1200" dirty="0">
                <a:solidFill>
                  <a:schemeClr val="accent5">
                    <a:lumMod val="50000"/>
                  </a:schemeClr>
                </a:solidFill>
              </a:rPr>
              <a:t>out of RM 560,472</a:t>
            </a:r>
            <a:endParaRPr lang="en-US" sz="1200" dirty="0"/>
          </a:p>
          <a:p>
            <a:pPr algn="r"/>
            <a:r>
              <a:rPr lang="en-US" sz="14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Male policyholders contributes RM 304,944</a:t>
            </a:r>
            <a:endParaRPr lang="en-US" sz="1600" dirty="0">
              <a:solidFill>
                <a:schemeClr val="accent6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014520-F9CF-94D7-0E29-F8BAACD1234A}"/>
              </a:ext>
            </a:extLst>
          </p:cNvPr>
          <p:cNvSpPr txBox="1"/>
          <p:nvPr/>
        </p:nvSpPr>
        <p:spPr>
          <a:xfrm>
            <a:off x="6076464" y="4607348"/>
            <a:ext cx="53750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u="sng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variable 5</a:t>
            </a:r>
          </a:p>
          <a:p>
            <a:r>
              <a:rPr lang="en-US" sz="2800" dirty="0"/>
              <a:t>Income Bands Q1(55%) </a:t>
            </a:r>
            <a:r>
              <a:rPr lang="en-US" sz="1200" dirty="0">
                <a:solidFill>
                  <a:schemeClr val="accent5">
                    <a:lumMod val="50000"/>
                  </a:schemeClr>
                </a:solidFill>
              </a:rPr>
              <a:t>out of RM 304,944</a:t>
            </a:r>
            <a:endParaRPr lang="en-US" sz="1200" dirty="0"/>
          </a:p>
          <a:p>
            <a:r>
              <a:rPr lang="en-US" sz="14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Lowest quartile (25%) of the Income Bands contributes RM 166,392</a:t>
            </a:r>
            <a:endParaRPr lang="en-US" sz="1600" dirty="0">
              <a:solidFill>
                <a:schemeClr val="accent6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800800-74D0-2B26-445C-4B9B6BD9A52A}"/>
              </a:ext>
            </a:extLst>
          </p:cNvPr>
          <p:cNvSpPr txBox="1"/>
          <p:nvPr/>
        </p:nvSpPr>
        <p:spPr>
          <a:xfrm>
            <a:off x="442385" y="5429155"/>
            <a:ext cx="54943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u="sng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variable 6</a:t>
            </a:r>
          </a:p>
          <a:p>
            <a:pPr algn="r"/>
            <a:r>
              <a:rPr lang="en-US" sz="2800" dirty="0"/>
              <a:t>Selangor Residence (50%)</a:t>
            </a:r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accent5">
                    <a:lumMod val="50000"/>
                  </a:schemeClr>
                </a:solidFill>
              </a:rPr>
              <a:t>out of RM 166,392</a:t>
            </a:r>
            <a:endParaRPr lang="en-US" sz="1200" dirty="0"/>
          </a:p>
          <a:p>
            <a:pPr algn="r"/>
            <a:r>
              <a:rPr lang="en-US" sz="14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Policyholders reside in Selangor contributes RM 83,784</a:t>
            </a:r>
            <a:endParaRPr lang="en-US" sz="1600" dirty="0">
              <a:solidFill>
                <a:schemeClr val="accent6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2FE7CC1-D070-0B45-61A1-9C2258331808}"/>
              </a:ext>
            </a:extLst>
          </p:cNvPr>
          <p:cNvSpPr>
            <a:spLocks noChangeAspect="1"/>
          </p:cNvSpPr>
          <p:nvPr/>
        </p:nvSpPr>
        <p:spPr>
          <a:xfrm>
            <a:off x="5895909" y="2347280"/>
            <a:ext cx="161046" cy="180000"/>
          </a:xfrm>
          <a:prstGeom prst="ellipse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93CAD58-5A8E-FFF1-4FC9-8A36819DFBDD}"/>
              </a:ext>
            </a:extLst>
          </p:cNvPr>
          <p:cNvSpPr>
            <a:spLocks noChangeAspect="1"/>
          </p:cNvSpPr>
          <p:nvPr/>
        </p:nvSpPr>
        <p:spPr>
          <a:xfrm>
            <a:off x="5921865" y="3214241"/>
            <a:ext cx="128837" cy="144000"/>
          </a:xfrm>
          <a:prstGeom prst="ellipse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96384C1-9923-F482-E3E0-EFB23D9A3A81}"/>
              </a:ext>
            </a:extLst>
          </p:cNvPr>
          <p:cNvSpPr>
            <a:spLocks noChangeAspect="1"/>
          </p:cNvSpPr>
          <p:nvPr/>
        </p:nvSpPr>
        <p:spPr>
          <a:xfrm>
            <a:off x="5926245" y="3913446"/>
            <a:ext cx="96628" cy="108000"/>
          </a:xfrm>
          <a:prstGeom prst="ellipse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07B820D-7002-17A4-2228-D25F1E0F9810}"/>
              </a:ext>
            </a:extLst>
          </p:cNvPr>
          <p:cNvSpPr>
            <a:spLocks noChangeAspect="1"/>
          </p:cNvSpPr>
          <p:nvPr/>
        </p:nvSpPr>
        <p:spPr>
          <a:xfrm>
            <a:off x="5954074" y="4711950"/>
            <a:ext cx="64419" cy="72000"/>
          </a:xfrm>
          <a:prstGeom prst="ellipse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CDDF538-5E44-4200-40B9-4B126F59CE40}"/>
              </a:ext>
            </a:extLst>
          </p:cNvPr>
          <p:cNvSpPr>
            <a:spLocks noChangeAspect="1"/>
          </p:cNvSpPr>
          <p:nvPr/>
        </p:nvSpPr>
        <p:spPr>
          <a:xfrm>
            <a:off x="5965660" y="5534084"/>
            <a:ext cx="32210" cy="36000"/>
          </a:xfrm>
          <a:prstGeom prst="ellipse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771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BDA5E9-2CFC-8EAC-D558-002147DA263F}"/>
              </a:ext>
            </a:extLst>
          </p:cNvPr>
          <p:cNvSpPr/>
          <p:nvPr/>
        </p:nvSpPr>
        <p:spPr>
          <a:xfrm>
            <a:off x="0" y="-20574"/>
            <a:ext cx="12192000" cy="1206500"/>
          </a:xfrm>
          <a:prstGeom prst="rect">
            <a:avLst/>
          </a:prstGeom>
          <a:solidFill>
            <a:srgbClr val="05192D"/>
          </a:solidFill>
          <a:ln>
            <a:solidFill>
              <a:schemeClr val="accent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1277F9-0BF0-6657-EECE-E0892BD6389A}"/>
              </a:ext>
            </a:extLst>
          </p:cNvPr>
          <p:cNvSpPr txBox="1"/>
          <p:nvPr/>
        </p:nvSpPr>
        <p:spPr>
          <a:xfrm>
            <a:off x="203200" y="429782"/>
            <a:ext cx="956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Using  </a:t>
            </a:r>
            <a:r>
              <a:rPr lang="en-US" dirty="0">
                <a:solidFill>
                  <a:schemeClr val="accent1"/>
                </a:solidFill>
              </a:rPr>
              <a:t>Tree Decomposition Technique </a:t>
            </a:r>
            <a:r>
              <a:rPr lang="en-US" dirty="0">
                <a:solidFill>
                  <a:schemeClr val="bg1"/>
                </a:solidFill>
              </a:rPr>
              <a:t>to </a:t>
            </a:r>
            <a:r>
              <a:rPr lang="en-US" dirty="0">
                <a:solidFill>
                  <a:schemeClr val="accent1"/>
                </a:solidFill>
              </a:rPr>
              <a:t>Identify which variables lead to Premium Losses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8E5FF2-980A-BB49-F9EB-C1F0EF305291}"/>
              </a:ext>
            </a:extLst>
          </p:cNvPr>
          <p:cNvSpPr txBox="1"/>
          <p:nvPr/>
        </p:nvSpPr>
        <p:spPr>
          <a:xfrm>
            <a:off x="6095999" y="1730803"/>
            <a:ext cx="5218480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u="sng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variable 1</a:t>
            </a:r>
          </a:p>
          <a:p>
            <a:r>
              <a:rPr lang="en-US" sz="2800" dirty="0"/>
              <a:t>Payment Mode 12 (70%)</a:t>
            </a:r>
            <a:r>
              <a:rPr lang="en-US" sz="1200" dirty="0">
                <a:solidFill>
                  <a:schemeClr val="accent5">
                    <a:lumMod val="50000"/>
                  </a:schemeClr>
                </a:solidFill>
              </a:rPr>
              <a:t>out of RM 253,802</a:t>
            </a:r>
            <a:endParaRPr lang="en-US" sz="2800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sz="14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Payment Mode = 12, where premiums are paid only once a month</a:t>
            </a:r>
          </a:p>
          <a:p>
            <a:r>
              <a:rPr lang="en-US" sz="14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contributes RM 186,768</a:t>
            </a:r>
            <a:endParaRPr lang="en-US" sz="1600" dirty="0">
              <a:solidFill>
                <a:schemeClr val="accent6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7EC4E2-E3B1-E750-9D5F-8CEDABBA912F}"/>
              </a:ext>
            </a:extLst>
          </p:cNvPr>
          <p:cNvSpPr txBox="1"/>
          <p:nvPr/>
        </p:nvSpPr>
        <p:spPr>
          <a:xfrm>
            <a:off x="2005929" y="1215192"/>
            <a:ext cx="7948266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Out of RM 252,802 Premiums Losses for Product 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9BF5EF-D2CF-5AF8-20E7-DC75E451233F}"/>
              </a:ext>
            </a:extLst>
          </p:cNvPr>
          <p:cNvSpPr txBox="1"/>
          <p:nvPr/>
        </p:nvSpPr>
        <p:spPr>
          <a:xfrm>
            <a:off x="934244" y="2300189"/>
            <a:ext cx="47999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u="sng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variable 2</a:t>
            </a:r>
          </a:p>
          <a:p>
            <a:pPr algn="r"/>
            <a:r>
              <a:rPr lang="en-US" sz="2800" dirty="0"/>
              <a:t>Gender Female (69%)</a:t>
            </a:r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accent5">
                    <a:lumMod val="50000"/>
                  </a:schemeClr>
                </a:solidFill>
              </a:rPr>
              <a:t>out of RM 186,768</a:t>
            </a:r>
            <a:endParaRPr lang="en-US" sz="1200" dirty="0"/>
          </a:p>
          <a:p>
            <a:pPr algn="r"/>
            <a:r>
              <a:rPr lang="en-US" sz="14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Female policyholders contributes RM 128,808</a:t>
            </a:r>
            <a:endParaRPr lang="en-US" sz="1600" dirty="0">
              <a:solidFill>
                <a:schemeClr val="accent6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014520-F9CF-94D7-0E29-F8BAACD1234A}"/>
              </a:ext>
            </a:extLst>
          </p:cNvPr>
          <p:cNvSpPr txBox="1"/>
          <p:nvPr/>
        </p:nvSpPr>
        <p:spPr>
          <a:xfrm>
            <a:off x="6076464" y="3180095"/>
            <a:ext cx="54610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u="sng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variable 3</a:t>
            </a:r>
          </a:p>
          <a:p>
            <a:r>
              <a:rPr lang="en-US" sz="2800" dirty="0"/>
              <a:t>Income Bands Q2(62%) </a:t>
            </a:r>
            <a:r>
              <a:rPr lang="en-US" sz="1200" dirty="0">
                <a:solidFill>
                  <a:schemeClr val="accent5">
                    <a:lumMod val="50000"/>
                  </a:schemeClr>
                </a:solidFill>
              </a:rPr>
              <a:t>out of RM 128,808</a:t>
            </a:r>
            <a:endParaRPr lang="en-US" sz="1200" dirty="0"/>
          </a:p>
          <a:p>
            <a:r>
              <a:rPr lang="en-US" sz="14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2</a:t>
            </a:r>
            <a:r>
              <a:rPr lang="en-US" sz="1400" baseline="300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nd</a:t>
            </a:r>
            <a:r>
              <a:rPr lang="en-US" sz="14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 Lower quartile (50%) of the Income Bands contributes RM 80,244</a:t>
            </a:r>
            <a:endParaRPr lang="en-US" sz="1600" dirty="0">
              <a:solidFill>
                <a:schemeClr val="accent6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770248-839C-59C5-C867-352908B30BB5}"/>
              </a:ext>
            </a:extLst>
          </p:cNvPr>
          <p:cNvSpPr txBox="1"/>
          <p:nvPr/>
        </p:nvSpPr>
        <p:spPr>
          <a:xfrm>
            <a:off x="1647374" y="3809326"/>
            <a:ext cx="42555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u="sng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variable 4</a:t>
            </a:r>
          </a:p>
          <a:p>
            <a:pPr algn="r"/>
            <a:r>
              <a:rPr lang="en-US" sz="2800" dirty="0"/>
              <a:t>Age Group B (62%) </a:t>
            </a:r>
            <a:r>
              <a:rPr lang="en-US" sz="1200" dirty="0">
                <a:solidFill>
                  <a:schemeClr val="accent5">
                    <a:lumMod val="50000"/>
                  </a:schemeClr>
                </a:solidFill>
              </a:rPr>
              <a:t>out of RM 80,244</a:t>
            </a:r>
            <a:endParaRPr lang="en-US" sz="1200" dirty="0"/>
          </a:p>
          <a:p>
            <a:pPr algn="r"/>
            <a:r>
              <a:rPr lang="en-US" sz="14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Age Group B contributes RM 49,476</a:t>
            </a:r>
            <a:endParaRPr lang="en-US" sz="1600" dirty="0">
              <a:solidFill>
                <a:schemeClr val="accent6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E61C53-DFE5-20E7-700A-9C75E753ADD2}"/>
              </a:ext>
            </a:extLst>
          </p:cNvPr>
          <p:cNvSpPr txBox="1"/>
          <p:nvPr/>
        </p:nvSpPr>
        <p:spPr>
          <a:xfrm>
            <a:off x="6095999" y="4621778"/>
            <a:ext cx="51207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u="sng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variable 5</a:t>
            </a:r>
          </a:p>
          <a:p>
            <a:r>
              <a:rPr lang="en-US" sz="2800" dirty="0"/>
              <a:t>Marital Status S (100%*) </a:t>
            </a:r>
            <a:r>
              <a:rPr lang="en-US" sz="1200" dirty="0">
                <a:solidFill>
                  <a:schemeClr val="accent5">
                    <a:lumMod val="50000"/>
                  </a:schemeClr>
                </a:solidFill>
              </a:rPr>
              <a:t>out of RM 49,476</a:t>
            </a:r>
            <a:endParaRPr lang="en-US" sz="2800" dirty="0"/>
          </a:p>
          <a:p>
            <a:r>
              <a:rPr lang="en-US" sz="14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Married policyholders contributes RM 49,476</a:t>
            </a:r>
            <a:endParaRPr lang="en-US" sz="1600" dirty="0">
              <a:solidFill>
                <a:schemeClr val="accent6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FD9544-77A6-0B43-8812-1CEB96BA3E48}"/>
              </a:ext>
            </a:extLst>
          </p:cNvPr>
          <p:cNvSpPr txBox="1"/>
          <p:nvPr/>
        </p:nvSpPr>
        <p:spPr>
          <a:xfrm>
            <a:off x="6129712" y="5482226"/>
            <a:ext cx="33858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*Age Group B mostly comprises of Single Marital Status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DA60AB-430F-4C9F-8B63-F27A8E03945F}"/>
              </a:ext>
            </a:extLst>
          </p:cNvPr>
          <p:cNvSpPr txBox="1"/>
          <p:nvPr/>
        </p:nvSpPr>
        <p:spPr>
          <a:xfrm>
            <a:off x="524137" y="5429155"/>
            <a:ext cx="54126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u="sng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variable 6</a:t>
            </a:r>
          </a:p>
          <a:p>
            <a:pPr algn="r"/>
            <a:r>
              <a:rPr lang="en-US" sz="2800" dirty="0"/>
              <a:t>Selangor Residence (61%)</a:t>
            </a:r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accent5">
                    <a:lumMod val="50000"/>
                  </a:schemeClr>
                </a:solidFill>
              </a:rPr>
              <a:t>out of RM 49,476</a:t>
            </a:r>
            <a:endParaRPr lang="en-US" sz="1200" dirty="0"/>
          </a:p>
          <a:p>
            <a:pPr algn="r"/>
            <a:r>
              <a:rPr lang="en-US" sz="14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Policyholders reside in Selangor contributes RM 30,265</a:t>
            </a:r>
            <a:endParaRPr lang="en-US" sz="1600" dirty="0">
              <a:solidFill>
                <a:schemeClr val="accent6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769E3D3-C53B-C74F-5F3F-F067FAFD1A23}"/>
              </a:ext>
            </a:extLst>
          </p:cNvPr>
          <p:cNvGrpSpPr/>
          <p:nvPr/>
        </p:nvGrpSpPr>
        <p:grpSpPr>
          <a:xfrm>
            <a:off x="5883209" y="1788171"/>
            <a:ext cx="193255" cy="4640047"/>
            <a:chOff x="5883209" y="1788171"/>
            <a:chExt cx="193255" cy="4640047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222B46E-6239-4AD4-7B2F-3ABE1B015987}"/>
                </a:ext>
              </a:extLst>
            </p:cNvPr>
            <p:cNvGrpSpPr/>
            <p:nvPr/>
          </p:nvGrpSpPr>
          <p:grpSpPr>
            <a:xfrm>
              <a:off x="5883209" y="1788171"/>
              <a:ext cx="193255" cy="4640047"/>
              <a:chOff x="5883209" y="1788171"/>
              <a:chExt cx="193255" cy="4640047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6D70D831-1CEC-99FE-9224-F82422E0D97A}"/>
                  </a:ext>
                </a:extLst>
              </p:cNvPr>
              <p:cNvCxnSpPr/>
              <p:nvPr/>
            </p:nvCxnSpPr>
            <p:spPr>
              <a:xfrm>
                <a:off x="5983337" y="1856218"/>
                <a:ext cx="0" cy="4572000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prstDash val="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5C82E3BB-8DA4-10C7-3FAD-720D48AC909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83209" y="1788171"/>
                <a:ext cx="193255" cy="216000"/>
              </a:xfrm>
              <a:prstGeom prst="ellipse">
                <a:avLst/>
              </a:prstGeom>
              <a:solidFill>
                <a:schemeClr val="accent6">
                  <a:lumMod val="10000"/>
                  <a:lumOff val="9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F4669D6-7DC2-69E9-8EA5-EBFA80AFDE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5909" y="2347280"/>
              <a:ext cx="161046" cy="180000"/>
            </a:xfrm>
            <a:prstGeom prst="ellipse">
              <a:avLst/>
            </a:prstGeom>
            <a:solidFill>
              <a:schemeClr val="accent6">
                <a:lumMod val="10000"/>
                <a:lumOff val="9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261363A-9D28-58FA-C13D-A308D32FEC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21865" y="3214241"/>
              <a:ext cx="128837" cy="144000"/>
            </a:xfrm>
            <a:prstGeom prst="ellipse">
              <a:avLst/>
            </a:prstGeom>
            <a:solidFill>
              <a:schemeClr val="accent6">
                <a:lumMod val="10000"/>
                <a:lumOff val="9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02E25F6-6CE3-D81E-15BF-36A9EE4AB8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26245" y="3913446"/>
              <a:ext cx="96628" cy="108000"/>
            </a:xfrm>
            <a:prstGeom prst="ellipse">
              <a:avLst/>
            </a:prstGeom>
            <a:solidFill>
              <a:schemeClr val="accent6">
                <a:lumMod val="10000"/>
                <a:lumOff val="9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90A5561-DEF0-9777-5406-EFFE787E9C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4074" y="4770565"/>
              <a:ext cx="64419" cy="72000"/>
            </a:xfrm>
            <a:prstGeom prst="ellipse">
              <a:avLst/>
            </a:prstGeom>
            <a:solidFill>
              <a:schemeClr val="accent6">
                <a:lumMod val="10000"/>
                <a:lumOff val="9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1C24F68-0060-B1E0-F89F-717CEECB06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65660" y="5580976"/>
              <a:ext cx="32210" cy="36000"/>
            </a:xfrm>
            <a:prstGeom prst="ellipse">
              <a:avLst/>
            </a:prstGeom>
            <a:solidFill>
              <a:schemeClr val="accent6">
                <a:lumMod val="10000"/>
                <a:lumOff val="9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82702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BDA5E9-2CFC-8EAC-D558-002147DA263F}"/>
              </a:ext>
            </a:extLst>
          </p:cNvPr>
          <p:cNvSpPr/>
          <p:nvPr/>
        </p:nvSpPr>
        <p:spPr>
          <a:xfrm>
            <a:off x="0" y="-20574"/>
            <a:ext cx="12192000" cy="1206500"/>
          </a:xfrm>
          <a:prstGeom prst="rect">
            <a:avLst/>
          </a:prstGeom>
          <a:solidFill>
            <a:srgbClr val="05192D"/>
          </a:solidFill>
          <a:ln>
            <a:solidFill>
              <a:schemeClr val="accent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1277F9-0BF0-6657-EECE-E0892BD6389A}"/>
              </a:ext>
            </a:extLst>
          </p:cNvPr>
          <p:cNvSpPr txBox="1"/>
          <p:nvPr/>
        </p:nvSpPr>
        <p:spPr>
          <a:xfrm>
            <a:off x="203200" y="429782"/>
            <a:ext cx="956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Using  </a:t>
            </a:r>
            <a:r>
              <a:rPr lang="en-US" dirty="0">
                <a:solidFill>
                  <a:schemeClr val="accent1"/>
                </a:solidFill>
              </a:rPr>
              <a:t>Tree Decomposition Technique </a:t>
            </a:r>
            <a:r>
              <a:rPr lang="en-US" dirty="0">
                <a:solidFill>
                  <a:schemeClr val="bg1"/>
                </a:solidFill>
              </a:rPr>
              <a:t>to </a:t>
            </a:r>
            <a:r>
              <a:rPr lang="en-US" dirty="0">
                <a:solidFill>
                  <a:schemeClr val="accent1"/>
                </a:solidFill>
              </a:rPr>
              <a:t>Identify which variables lead to Premium Losses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8E5FF2-980A-BB49-F9EB-C1F0EF305291}"/>
              </a:ext>
            </a:extLst>
          </p:cNvPr>
          <p:cNvSpPr txBox="1"/>
          <p:nvPr/>
        </p:nvSpPr>
        <p:spPr>
          <a:xfrm>
            <a:off x="6095999" y="1730803"/>
            <a:ext cx="5218480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u="sng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variable 1</a:t>
            </a:r>
          </a:p>
          <a:p>
            <a:r>
              <a:rPr lang="en-US" sz="2800" dirty="0"/>
              <a:t>Payment Mode 12 (91%)</a:t>
            </a:r>
            <a:r>
              <a:rPr lang="en-US" sz="1200" dirty="0">
                <a:solidFill>
                  <a:schemeClr val="accent5">
                    <a:lumMod val="50000"/>
                  </a:schemeClr>
                </a:solidFill>
              </a:rPr>
              <a:t>out of RM 905,026</a:t>
            </a:r>
            <a:endParaRPr lang="en-US" sz="2800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sz="14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Payment Mode = 12, where premiums are paid only once a month</a:t>
            </a:r>
          </a:p>
          <a:p>
            <a:r>
              <a:rPr lang="en-US" sz="14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contributes RM 821,280</a:t>
            </a:r>
            <a:endParaRPr lang="en-US" sz="1600" dirty="0">
              <a:solidFill>
                <a:schemeClr val="accent6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7EC4E2-E3B1-E750-9D5F-8CEDABBA912F}"/>
              </a:ext>
            </a:extLst>
          </p:cNvPr>
          <p:cNvSpPr txBox="1"/>
          <p:nvPr/>
        </p:nvSpPr>
        <p:spPr>
          <a:xfrm>
            <a:off x="2005929" y="1215192"/>
            <a:ext cx="7948266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Out of RM 905,026 Premiums Losses for Product 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DA60AB-430F-4C9F-8B63-F27A8E03945F}"/>
              </a:ext>
            </a:extLst>
          </p:cNvPr>
          <p:cNvSpPr txBox="1"/>
          <p:nvPr/>
        </p:nvSpPr>
        <p:spPr>
          <a:xfrm>
            <a:off x="6054962" y="4657924"/>
            <a:ext cx="54943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u="sng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variable 5</a:t>
            </a:r>
          </a:p>
          <a:p>
            <a:r>
              <a:rPr lang="en-US" sz="2800" dirty="0"/>
              <a:t>Selangor Residence (50%)</a:t>
            </a:r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accent5">
                    <a:lumMod val="50000"/>
                  </a:schemeClr>
                </a:solidFill>
              </a:rPr>
              <a:t>out of RM 166,392</a:t>
            </a:r>
            <a:endParaRPr lang="en-US" sz="1200" dirty="0"/>
          </a:p>
          <a:p>
            <a:r>
              <a:rPr lang="en-US" sz="14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Policyholders reside in Selangor contributes RM 83,784</a:t>
            </a:r>
            <a:endParaRPr lang="en-US" sz="1600" dirty="0">
              <a:solidFill>
                <a:schemeClr val="accent6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769E3D3-C53B-C74F-5F3F-F067FAFD1A23}"/>
              </a:ext>
            </a:extLst>
          </p:cNvPr>
          <p:cNvGrpSpPr/>
          <p:nvPr/>
        </p:nvGrpSpPr>
        <p:grpSpPr>
          <a:xfrm>
            <a:off x="5883209" y="1788171"/>
            <a:ext cx="193255" cy="4640047"/>
            <a:chOff x="5883209" y="1788171"/>
            <a:chExt cx="193255" cy="4640047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222B46E-6239-4AD4-7B2F-3ABE1B015987}"/>
                </a:ext>
              </a:extLst>
            </p:cNvPr>
            <p:cNvGrpSpPr/>
            <p:nvPr/>
          </p:nvGrpSpPr>
          <p:grpSpPr>
            <a:xfrm>
              <a:off x="5883209" y="1788171"/>
              <a:ext cx="193255" cy="4640047"/>
              <a:chOff x="5883209" y="1788171"/>
              <a:chExt cx="193255" cy="4640047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6D70D831-1CEC-99FE-9224-F82422E0D97A}"/>
                  </a:ext>
                </a:extLst>
              </p:cNvPr>
              <p:cNvCxnSpPr/>
              <p:nvPr/>
            </p:nvCxnSpPr>
            <p:spPr>
              <a:xfrm>
                <a:off x="5983337" y="1856218"/>
                <a:ext cx="0" cy="4572000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prstDash val="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5C82E3BB-8DA4-10C7-3FAD-720D48AC909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83209" y="1788171"/>
                <a:ext cx="193255" cy="216000"/>
              </a:xfrm>
              <a:prstGeom prst="ellipse">
                <a:avLst/>
              </a:prstGeom>
              <a:solidFill>
                <a:schemeClr val="accent6">
                  <a:lumMod val="10000"/>
                  <a:lumOff val="9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F4669D6-7DC2-69E9-8EA5-EBFA80AFDE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5909" y="2347280"/>
              <a:ext cx="161046" cy="180000"/>
            </a:xfrm>
            <a:prstGeom prst="ellipse">
              <a:avLst/>
            </a:prstGeom>
            <a:solidFill>
              <a:schemeClr val="accent6">
                <a:lumMod val="10000"/>
                <a:lumOff val="9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261363A-9D28-58FA-C13D-A308D32FEC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21865" y="3214241"/>
              <a:ext cx="128837" cy="144000"/>
            </a:xfrm>
            <a:prstGeom prst="ellipse">
              <a:avLst/>
            </a:prstGeom>
            <a:solidFill>
              <a:schemeClr val="accent6">
                <a:lumMod val="10000"/>
                <a:lumOff val="9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02E25F6-6CE3-D81E-15BF-36A9EE4AB8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26245" y="3913446"/>
              <a:ext cx="96628" cy="108000"/>
            </a:xfrm>
            <a:prstGeom prst="ellipse">
              <a:avLst/>
            </a:prstGeom>
            <a:solidFill>
              <a:schemeClr val="accent6">
                <a:lumMod val="10000"/>
                <a:lumOff val="9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90A5561-DEF0-9777-5406-EFFE787E9C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4074" y="4770565"/>
              <a:ext cx="64419" cy="72000"/>
            </a:xfrm>
            <a:prstGeom prst="ellipse">
              <a:avLst/>
            </a:prstGeom>
            <a:solidFill>
              <a:schemeClr val="accent6">
                <a:lumMod val="10000"/>
                <a:lumOff val="9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1C24F68-0060-B1E0-F89F-717CEECB06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65660" y="5580976"/>
              <a:ext cx="32210" cy="36000"/>
            </a:xfrm>
            <a:prstGeom prst="ellipse">
              <a:avLst/>
            </a:prstGeom>
            <a:solidFill>
              <a:schemeClr val="accent6">
                <a:lumMod val="10000"/>
                <a:lumOff val="9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9C8AD89-46F9-2A14-B207-14E9CFDCF5C7}"/>
              </a:ext>
            </a:extLst>
          </p:cNvPr>
          <p:cNvSpPr txBox="1"/>
          <p:nvPr/>
        </p:nvSpPr>
        <p:spPr>
          <a:xfrm>
            <a:off x="877521" y="2311212"/>
            <a:ext cx="49267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u="sng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variable 2</a:t>
            </a:r>
          </a:p>
          <a:p>
            <a:pPr algn="r"/>
            <a:r>
              <a:rPr lang="en-US" sz="2800" dirty="0"/>
              <a:t>Marital Status M (68%) </a:t>
            </a:r>
            <a:r>
              <a:rPr lang="en-US" sz="1200" dirty="0">
                <a:solidFill>
                  <a:schemeClr val="accent5">
                    <a:lumMod val="50000"/>
                  </a:schemeClr>
                </a:solidFill>
              </a:rPr>
              <a:t>out of RM 821,280</a:t>
            </a:r>
            <a:endParaRPr lang="en-US" sz="2800" dirty="0"/>
          </a:p>
          <a:p>
            <a:pPr algn="r"/>
            <a:r>
              <a:rPr lang="en-US" sz="14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Married policyholders contributes RM 560,472</a:t>
            </a:r>
            <a:endParaRPr lang="en-US" sz="1600" dirty="0">
              <a:solidFill>
                <a:schemeClr val="accent6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57FEB1-8E20-7733-04BA-3FF65FE536F7}"/>
              </a:ext>
            </a:extLst>
          </p:cNvPr>
          <p:cNvSpPr txBox="1"/>
          <p:nvPr/>
        </p:nvSpPr>
        <p:spPr>
          <a:xfrm>
            <a:off x="6150830" y="3044116"/>
            <a:ext cx="43316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u="sng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variable 3</a:t>
            </a:r>
          </a:p>
          <a:p>
            <a:r>
              <a:rPr lang="en-US" sz="2800" dirty="0"/>
              <a:t>Gender Male(54%) </a:t>
            </a:r>
            <a:r>
              <a:rPr lang="en-US" sz="1200" dirty="0">
                <a:solidFill>
                  <a:schemeClr val="accent5">
                    <a:lumMod val="50000"/>
                  </a:schemeClr>
                </a:solidFill>
              </a:rPr>
              <a:t>out of RM 560,472</a:t>
            </a:r>
            <a:endParaRPr lang="en-US" sz="1200" dirty="0"/>
          </a:p>
          <a:p>
            <a:r>
              <a:rPr lang="en-US" sz="14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Male policyholders contributes RM 304,944</a:t>
            </a:r>
            <a:endParaRPr lang="en-US" sz="1600" dirty="0">
              <a:solidFill>
                <a:schemeClr val="accent6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9993AC-F165-EED5-014B-21303737B17F}"/>
              </a:ext>
            </a:extLst>
          </p:cNvPr>
          <p:cNvSpPr txBox="1"/>
          <p:nvPr/>
        </p:nvSpPr>
        <p:spPr>
          <a:xfrm>
            <a:off x="404810" y="3815562"/>
            <a:ext cx="53750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u="sng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variable 4</a:t>
            </a:r>
          </a:p>
          <a:p>
            <a:pPr algn="r"/>
            <a:r>
              <a:rPr lang="en-US" sz="2800" dirty="0"/>
              <a:t>Income Bands Q1(55%) </a:t>
            </a:r>
            <a:r>
              <a:rPr lang="en-US" sz="1200" dirty="0">
                <a:solidFill>
                  <a:schemeClr val="accent5">
                    <a:lumMod val="50000"/>
                  </a:schemeClr>
                </a:solidFill>
              </a:rPr>
              <a:t>out of RM 304,944</a:t>
            </a:r>
            <a:endParaRPr lang="en-US" sz="1200" dirty="0"/>
          </a:p>
          <a:p>
            <a:pPr algn="r"/>
            <a:r>
              <a:rPr lang="en-US" sz="14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Lowest quartile (25%) of the Income Bands contributes RM 166,392</a:t>
            </a:r>
            <a:endParaRPr lang="en-US" sz="1600" dirty="0">
              <a:solidFill>
                <a:schemeClr val="accent6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3BAB16-288B-2394-1249-13BC63C91C31}"/>
              </a:ext>
            </a:extLst>
          </p:cNvPr>
          <p:cNvSpPr txBox="1"/>
          <p:nvPr/>
        </p:nvSpPr>
        <p:spPr>
          <a:xfrm>
            <a:off x="1634622" y="5402513"/>
            <a:ext cx="42555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u="sng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variable 6</a:t>
            </a:r>
          </a:p>
          <a:p>
            <a:pPr algn="r"/>
            <a:r>
              <a:rPr lang="en-US" sz="2800" dirty="0"/>
              <a:t>Age Group B (37%) </a:t>
            </a:r>
            <a:r>
              <a:rPr lang="en-US" sz="1200" dirty="0">
                <a:solidFill>
                  <a:schemeClr val="accent5">
                    <a:lumMod val="50000"/>
                  </a:schemeClr>
                </a:solidFill>
              </a:rPr>
              <a:t>out of RM 83,784</a:t>
            </a:r>
            <a:endParaRPr lang="en-US" sz="1200" dirty="0"/>
          </a:p>
          <a:p>
            <a:pPr algn="r"/>
            <a:r>
              <a:rPr lang="en-US" sz="14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Age Group B contributes RM 30,816</a:t>
            </a:r>
            <a:endParaRPr lang="en-US" sz="1600" dirty="0">
              <a:solidFill>
                <a:schemeClr val="accent6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6200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3B682FEF-C3A0-798E-A295-50A395EA04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34" b="20234"/>
          <a:stretch/>
        </p:blipFill>
        <p:spPr>
          <a:xfrm>
            <a:off x="-256000" y="-203200"/>
            <a:ext cx="12704000" cy="5041900"/>
          </a:xfrm>
          <a:prstGeom prst="rect">
            <a:avLst/>
          </a:prstGeom>
          <a:solidFill>
            <a:srgbClr val="05192D"/>
          </a:solidFill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976739-697E-5791-964D-B962F4FADF76}"/>
              </a:ext>
            </a:extLst>
          </p:cNvPr>
          <p:cNvSpPr txBox="1"/>
          <p:nvPr/>
        </p:nvSpPr>
        <p:spPr>
          <a:xfrm>
            <a:off x="4955515" y="2679700"/>
            <a:ext cx="2478564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2260420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C6D4A13-8C59-A30A-ACBF-70B906F95368}"/>
              </a:ext>
            </a:extLst>
          </p:cNvPr>
          <p:cNvSpPr/>
          <p:nvPr/>
        </p:nvSpPr>
        <p:spPr>
          <a:xfrm>
            <a:off x="0" y="-20574"/>
            <a:ext cx="12192000" cy="1206500"/>
          </a:xfrm>
          <a:prstGeom prst="rect">
            <a:avLst/>
          </a:prstGeom>
          <a:solidFill>
            <a:srgbClr val="05192D"/>
          </a:solidFill>
          <a:ln>
            <a:solidFill>
              <a:schemeClr val="accent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EADA4F-EF45-4547-0C6F-F1DF93CAB092}"/>
              </a:ext>
            </a:extLst>
          </p:cNvPr>
          <p:cNvSpPr txBox="1"/>
          <p:nvPr/>
        </p:nvSpPr>
        <p:spPr>
          <a:xfrm>
            <a:off x="203200" y="429782"/>
            <a:ext cx="956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Recommendations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597DFF-61FD-26B3-AD33-3EDD90F71026}"/>
              </a:ext>
            </a:extLst>
          </p:cNvPr>
          <p:cNvSpPr txBox="1"/>
          <p:nvPr/>
        </p:nvSpPr>
        <p:spPr>
          <a:xfrm>
            <a:off x="4176509" y="2019375"/>
            <a:ext cx="3838982" cy="7386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5"/>
                </a:solidFill>
              </a:rPr>
              <a:t>Adjust Pricing Strategies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Adjust pricing strategies for Product A and Product B to reduce premium losses 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01DE58D-CDA8-5E97-AB8D-9E0B910C8F38}"/>
              </a:ext>
            </a:extLst>
          </p:cNvPr>
          <p:cNvGrpSpPr/>
          <p:nvPr/>
        </p:nvGrpSpPr>
        <p:grpSpPr>
          <a:xfrm>
            <a:off x="3805686" y="1693605"/>
            <a:ext cx="4058214" cy="1125476"/>
            <a:chOff x="3457593" y="1690001"/>
            <a:chExt cx="4058214" cy="1125476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03413BF-A179-6345-CCA3-3F7AB2F98545}"/>
                </a:ext>
              </a:extLst>
            </p:cNvPr>
            <p:cNvCxnSpPr>
              <a:cxnSpLocks/>
            </p:cNvCxnSpPr>
            <p:nvPr/>
          </p:nvCxnSpPr>
          <p:spPr>
            <a:xfrm>
              <a:off x="3690607" y="2200997"/>
              <a:ext cx="0" cy="614480"/>
            </a:xfrm>
            <a:prstGeom prst="line">
              <a:avLst/>
            </a:prstGeom>
            <a:ln w="19050">
              <a:solidFill>
                <a:schemeClr val="accent6">
                  <a:lumMod val="25000"/>
                  <a:lumOff val="75000"/>
                </a:schemeClr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C0898B-8247-20F0-CE33-894DD5350391}"/>
                </a:ext>
              </a:extLst>
            </p:cNvPr>
            <p:cNvCxnSpPr>
              <a:cxnSpLocks/>
            </p:cNvCxnSpPr>
            <p:nvPr/>
          </p:nvCxnSpPr>
          <p:spPr>
            <a:xfrm>
              <a:off x="3982707" y="1908897"/>
              <a:ext cx="3533100" cy="0"/>
            </a:xfrm>
            <a:prstGeom prst="line">
              <a:avLst/>
            </a:prstGeom>
            <a:ln w="19050">
              <a:solidFill>
                <a:schemeClr val="accent6">
                  <a:lumMod val="25000"/>
                  <a:lumOff val="75000"/>
                </a:schemeClr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5C3AAD8-6125-E287-9158-1A7142918C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15807" y="1908897"/>
              <a:ext cx="0" cy="906580"/>
            </a:xfrm>
            <a:prstGeom prst="line">
              <a:avLst/>
            </a:prstGeom>
            <a:ln w="19050">
              <a:solidFill>
                <a:schemeClr val="accent6">
                  <a:lumMod val="25000"/>
                  <a:lumOff val="75000"/>
                </a:schemeClr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42D40C6-BCEF-1417-F205-F3ED3716FC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76825" y="2815477"/>
              <a:ext cx="3838982" cy="0"/>
            </a:xfrm>
            <a:prstGeom prst="line">
              <a:avLst/>
            </a:prstGeom>
            <a:ln w="19050">
              <a:solidFill>
                <a:schemeClr val="accent6">
                  <a:lumMod val="25000"/>
                  <a:lumOff val="75000"/>
                </a:schemeClr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pic>
          <p:nvPicPr>
            <p:cNvPr id="3" name="Graphic 2" descr="Badge 1 outline">
              <a:extLst>
                <a:ext uri="{FF2B5EF4-FFF2-40B4-BE49-F238E27FC236}">
                  <a16:creationId xmlns:a16="http://schemas.microsoft.com/office/drawing/2014/main" id="{19F8E5A6-0044-33BB-7D94-F5570C5846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57593" y="1690001"/>
              <a:ext cx="536391" cy="536391"/>
            </a:xfrm>
            <a:prstGeom prst="rect">
              <a:avLst/>
            </a:prstGeom>
          </p:spPr>
        </p:pic>
      </p:grpSp>
      <p:pic>
        <p:nvPicPr>
          <p:cNvPr id="13" name="Graphic 12" descr="Badge 3 outline">
            <a:extLst>
              <a:ext uri="{FF2B5EF4-FFF2-40B4-BE49-F238E27FC236}">
                <a16:creationId xmlns:a16="http://schemas.microsoft.com/office/drawing/2014/main" id="{53763ED8-9361-0F4E-6177-35C95B5080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79791" y="4365229"/>
            <a:ext cx="548431" cy="548431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328A9F68-0781-5E54-3F7F-DC524F2F104C}"/>
              </a:ext>
            </a:extLst>
          </p:cNvPr>
          <p:cNvGrpSpPr/>
          <p:nvPr/>
        </p:nvGrpSpPr>
        <p:grpSpPr>
          <a:xfrm>
            <a:off x="3816377" y="3074783"/>
            <a:ext cx="4047523" cy="1134502"/>
            <a:chOff x="3816377" y="3074783"/>
            <a:chExt cx="4047523" cy="1134502"/>
          </a:xfrm>
        </p:grpSpPr>
        <p:pic>
          <p:nvPicPr>
            <p:cNvPr id="15" name="Graphic 14" descr="Badge with solid fill">
              <a:extLst>
                <a:ext uri="{FF2B5EF4-FFF2-40B4-BE49-F238E27FC236}">
                  <a16:creationId xmlns:a16="http://schemas.microsoft.com/office/drawing/2014/main" id="{0D2C601D-70D3-5217-96B3-E13144AEC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816377" y="3074783"/>
              <a:ext cx="536391" cy="536391"/>
            </a:xfrm>
            <a:prstGeom prst="rect">
              <a:avLst/>
            </a:prstGeom>
          </p:spPr>
        </p:pic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47E58D5-0543-166C-FB26-520CDA2274CC}"/>
                </a:ext>
              </a:extLst>
            </p:cNvPr>
            <p:cNvGrpSpPr/>
            <p:nvPr/>
          </p:nvGrpSpPr>
          <p:grpSpPr>
            <a:xfrm>
              <a:off x="4024918" y="3302705"/>
              <a:ext cx="3838982" cy="906580"/>
              <a:chOff x="3676825" y="1908897"/>
              <a:chExt cx="3838982" cy="906580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99CF650C-3505-BF84-CAD1-9BB80764B0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90607" y="2200997"/>
                <a:ext cx="0" cy="614480"/>
              </a:xfrm>
              <a:prstGeom prst="line">
                <a:avLst/>
              </a:prstGeom>
              <a:ln w="19050">
                <a:solidFill>
                  <a:schemeClr val="accent6">
                    <a:lumMod val="25000"/>
                    <a:lumOff val="75000"/>
                  </a:schemeClr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0152F678-7E4E-0F15-9943-B75199D3CF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82707" y="1908897"/>
                <a:ext cx="3533100" cy="0"/>
              </a:xfrm>
              <a:prstGeom prst="line">
                <a:avLst/>
              </a:prstGeom>
              <a:ln w="19050">
                <a:solidFill>
                  <a:schemeClr val="accent6">
                    <a:lumMod val="25000"/>
                    <a:lumOff val="75000"/>
                  </a:schemeClr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965A8FED-28A9-3415-7383-013B465446A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515807" y="1908897"/>
                <a:ext cx="0" cy="906580"/>
              </a:xfrm>
              <a:prstGeom prst="line">
                <a:avLst/>
              </a:prstGeom>
              <a:ln w="19050">
                <a:solidFill>
                  <a:schemeClr val="accent6">
                    <a:lumMod val="25000"/>
                    <a:lumOff val="75000"/>
                  </a:schemeClr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7FE58A76-F4A0-55A5-A79E-53D3875E95B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676825" y="2815477"/>
                <a:ext cx="3838982" cy="0"/>
              </a:xfrm>
              <a:prstGeom prst="line">
                <a:avLst/>
              </a:prstGeom>
              <a:ln w="19050">
                <a:solidFill>
                  <a:schemeClr val="accent6">
                    <a:lumMod val="25000"/>
                    <a:lumOff val="75000"/>
                  </a:schemeClr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59F8C710-9C80-0A60-A27F-DE0C2180BE3E}"/>
              </a:ext>
            </a:extLst>
          </p:cNvPr>
          <p:cNvSpPr txBox="1"/>
          <p:nvPr/>
        </p:nvSpPr>
        <p:spPr>
          <a:xfrm>
            <a:off x="4130443" y="3408166"/>
            <a:ext cx="3838982" cy="7386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5"/>
                </a:solidFill>
              </a:rPr>
              <a:t>Flexible Payments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Offer flexible payment modes to reduce the impact of annual payments default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5F037CE-BBCF-EE0E-C318-655577E58443}"/>
              </a:ext>
            </a:extLst>
          </p:cNvPr>
          <p:cNvSpPr txBox="1"/>
          <p:nvPr/>
        </p:nvSpPr>
        <p:spPr>
          <a:xfrm>
            <a:off x="4022341" y="4794226"/>
            <a:ext cx="3838982" cy="7386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5"/>
                </a:solidFill>
              </a:rPr>
              <a:t>Customize product for better market fit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Tailor policies and communication for specific demographics groups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838AE02-B4AC-F825-2044-20CBDF2D06C1}"/>
              </a:ext>
            </a:extLst>
          </p:cNvPr>
          <p:cNvGrpSpPr/>
          <p:nvPr/>
        </p:nvGrpSpPr>
        <p:grpSpPr>
          <a:xfrm>
            <a:off x="4022341" y="4620586"/>
            <a:ext cx="3838982" cy="906580"/>
            <a:chOff x="3676825" y="1908897"/>
            <a:chExt cx="3838982" cy="906580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3953D46-F7BC-4A88-C6EC-A1BF95FAB5BB}"/>
                </a:ext>
              </a:extLst>
            </p:cNvPr>
            <p:cNvCxnSpPr>
              <a:cxnSpLocks/>
            </p:cNvCxnSpPr>
            <p:nvPr/>
          </p:nvCxnSpPr>
          <p:spPr>
            <a:xfrm>
              <a:off x="3690607" y="2200997"/>
              <a:ext cx="0" cy="614480"/>
            </a:xfrm>
            <a:prstGeom prst="line">
              <a:avLst/>
            </a:prstGeom>
            <a:ln w="19050">
              <a:solidFill>
                <a:schemeClr val="accent6">
                  <a:lumMod val="25000"/>
                  <a:lumOff val="75000"/>
                </a:schemeClr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C2C5869D-A18D-96B4-11EE-F4AD6F9CA11D}"/>
                </a:ext>
              </a:extLst>
            </p:cNvPr>
            <p:cNvCxnSpPr>
              <a:cxnSpLocks/>
            </p:cNvCxnSpPr>
            <p:nvPr/>
          </p:nvCxnSpPr>
          <p:spPr>
            <a:xfrm>
              <a:off x="3982707" y="1908897"/>
              <a:ext cx="3533100" cy="0"/>
            </a:xfrm>
            <a:prstGeom prst="line">
              <a:avLst/>
            </a:prstGeom>
            <a:ln w="19050">
              <a:solidFill>
                <a:schemeClr val="accent6">
                  <a:lumMod val="25000"/>
                  <a:lumOff val="75000"/>
                </a:schemeClr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4E22C34-5525-6422-9CA3-ED8C5691AC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15807" y="1908897"/>
              <a:ext cx="0" cy="906580"/>
            </a:xfrm>
            <a:prstGeom prst="line">
              <a:avLst/>
            </a:prstGeom>
            <a:ln w="19050">
              <a:solidFill>
                <a:schemeClr val="accent6">
                  <a:lumMod val="25000"/>
                  <a:lumOff val="75000"/>
                </a:schemeClr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4CA1767-D70C-ADD0-593E-7BC9065086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76825" y="2815477"/>
              <a:ext cx="3838982" cy="0"/>
            </a:xfrm>
            <a:prstGeom prst="line">
              <a:avLst/>
            </a:prstGeom>
            <a:ln w="19050">
              <a:solidFill>
                <a:schemeClr val="accent6">
                  <a:lumMod val="25000"/>
                  <a:lumOff val="75000"/>
                </a:schemeClr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84952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C4D64E-F1E6-0C30-EA7B-C21716C24ECA}"/>
              </a:ext>
            </a:extLst>
          </p:cNvPr>
          <p:cNvSpPr/>
          <p:nvPr/>
        </p:nvSpPr>
        <p:spPr>
          <a:xfrm>
            <a:off x="0" y="-20574"/>
            <a:ext cx="12192000" cy="1206500"/>
          </a:xfrm>
          <a:prstGeom prst="rect">
            <a:avLst/>
          </a:prstGeom>
          <a:solidFill>
            <a:srgbClr val="05192D"/>
          </a:solidFill>
          <a:ln>
            <a:solidFill>
              <a:schemeClr val="accent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FC0A4D-B85A-66C1-6E0C-0B79177F3980}"/>
              </a:ext>
            </a:extLst>
          </p:cNvPr>
          <p:cNvSpPr txBox="1"/>
          <p:nvPr/>
        </p:nvSpPr>
        <p:spPr>
          <a:xfrm>
            <a:off x="203200" y="429782"/>
            <a:ext cx="956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Tools Used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62BE29-D856-CE4D-BF30-05C0D5B8CB26}"/>
              </a:ext>
            </a:extLst>
          </p:cNvPr>
          <p:cNvSpPr txBox="1"/>
          <p:nvPr/>
        </p:nvSpPr>
        <p:spPr>
          <a:xfrm>
            <a:off x="365287" y="1560384"/>
            <a:ext cx="61038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Python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Excel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SQL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accent6">
                    <a:lumMod val="50000"/>
                    <a:lumOff val="50000"/>
                  </a:schemeClr>
                </a:solidFill>
              </a:rPr>
              <a:t>Microsoft </a:t>
            </a:r>
            <a:r>
              <a:rPr lang="en-US" sz="2000" dirty="0" err="1">
                <a:solidFill>
                  <a:schemeClr val="accent6">
                    <a:lumMod val="50000"/>
                    <a:lumOff val="50000"/>
                  </a:schemeClr>
                </a:solidFill>
              </a:rPr>
              <a:t>PowerBI</a:t>
            </a:r>
            <a:endParaRPr lang="en-US" sz="2000" dirty="0">
              <a:solidFill>
                <a:schemeClr val="accent6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0953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3EF62"/>
      </a:accent1>
      <a:accent2>
        <a:srgbClr val="05192D"/>
      </a:accent2>
      <a:accent3>
        <a:srgbClr val="E66C37"/>
      </a:accent3>
      <a:accent4>
        <a:srgbClr val="FF5400"/>
      </a:accent4>
      <a:accent5>
        <a:srgbClr val="EA3325"/>
      </a:accent5>
      <a:accent6>
        <a:srgbClr val="121947"/>
      </a:accent6>
      <a:hlink>
        <a:srgbClr val="FCCE0D"/>
      </a:hlink>
      <a:folHlink>
        <a:srgbClr val="FF6EA9"/>
      </a:folHlink>
    </a:clrScheme>
    <a:fontScheme name="Custom 1">
      <a:majorFont>
        <a:latin typeface="Segoe MDL2 Asset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1225</TotalTime>
  <Words>1391</Words>
  <Application>Microsoft Office PowerPoint</Application>
  <PresentationFormat>Widescreen</PresentationFormat>
  <Paragraphs>229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Segoe MDL2 Assets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Qayyim Syahmi Azani</dc:creator>
  <cp:lastModifiedBy>Qayyim Syahmi Azani</cp:lastModifiedBy>
  <cp:revision>26</cp:revision>
  <dcterms:created xsi:type="dcterms:W3CDTF">2024-07-25T13:29:49Z</dcterms:created>
  <dcterms:modified xsi:type="dcterms:W3CDTF">2024-10-26T04:53:55Z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4c3946d-dba7-48e3-b9a0-1fe0d53938b8_Enabled">
    <vt:lpwstr>true</vt:lpwstr>
  </property>
  <property fmtid="{D5CDD505-2E9C-101B-9397-08002B2CF9AE}" pid="3" name="MSIP_Label_74c3946d-dba7-48e3-b9a0-1fe0d53938b8_SetDate">
    <vt:lpwstr>2024-07-25T15:25:23Z</vt:lpwstr>
  </property>
  <property fmtid="{D5CDD505-2E9C-101B-9397-08002B2CF9AE}" pid="4" name="MSIP_Label_74c3946d-dba7-48e3-b9a0-1fe0d53938b8_Method">
    <vt:lpwstr>Standard</vt:lpwstr>
  </property>
  <property fmtid="{D5CDD505-2E9C-101B-9397-08002B2CF9AE}" pid="5" name="MSIP_Label_74c3946d-dba7-48e3-b9a0-1fe0d53938b8_Name">
    <vt:lpwstr>defa4170-0d19-0005-0004-bc88714345d2</vt:lpwstr>
  </property>
  <property fmtid="{D5CDD505-2E9C-101B-9397-08002B2CF9AE}" pid="6" name="MSIP_Label_74c3946d-dba7-48e3-b9a0-1fe0d53938b8_SiteId">
    <vt:lpwstr>d99baec9-c1a2-42d6-831a-ec0805c70218</vt:lpwstr>
  </property>
  <property fmtid="{D5CDD505-2E9C-101B-9397-08002B2CF9AE}" pid="7" name="MSIP_Label_74c3946d-dba7-48e3-b9a0-1fe0d53938b8_ActionId">
    <vt:lpwstr>2c96d26b-7d53-4380-a95f-d47d682cc4bd</vt:lpwstr>
  </property>
  <property fmtid="{D5CDD505-2E9C-101B-9397-08002B2CF9AE}" pid="8" name="MSIP_Label_74c3946d-dba7-48e3-b9a0-1fe0d53938b8_ContentBits">
    <vt:lpwstr>0</vt:lpwstr>
  </property>
</Properties>
</file>